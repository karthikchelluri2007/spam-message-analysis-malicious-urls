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86" r:id="rId4"/>
    <p:sldId id="258" r:id="rId5"/>
    <p:sldId id="259" r:id="rId6"/>
    <p:sldId id="287" r:id="rId7"/>
    <p:sldId id="280" r:id="rId8"/>
    <p:sldId id="288" r:id="rId9"/>
    <p:sldId id="271" r:id="rId10"/>
    <p:sldId id="281" r:id="rId11"/>
    <p:sldId id="283" r:id="rId12"/>
    <p:sldId id="285" r:id="rId13"/>
    <p:sldId id="289" r:id="rId14"/>
    <p:sldId id="268" r:id="rId15"/>
    <p:sldId id="269" r:id="rId16"/>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97685-9CB6-45F9-A194-17869D503BB0}" v="6" dt="2026-09-22T09:10:40.52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62" d="100"/>
          <a:sy n="62" d="100"/>
        </p:scale>
        <p:origin x="1464" y="3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30-10-2026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pPr/>
              <a:t>9</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1527576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TextBox 2"/>
          <p:cNvSpPr txBox="1"/>
          <p:nvPr/>
        </p:nvSpPr>
        <p:spPr>
          <a:xfrm>
            <a:off x="1463040" y="1051560"/>
            <a:ext cx="7315200" cy="523220"/>
          </a:xfrm>
          <a:prstGeom prst="rect">
            <a:avLst/>
          </a:prstGeom>
          <a:noFill/>
        </p:spPr>
        <p:txBody>
          <a:bodyPr wrap="square">
            <a:spAutoFit/>
          </a:bodyPr>
          <a:lstStyle/>
          <a:p>
            <a:pPr algn="ctr">
              <a:spcAft>
                <a:spcPts val="700"/>
              </a:spcAft>
              <a:defRPr sz="2500" b="1">
                <a:solidFill>
                  <a:srgbClr val="233464"/>
                </a:solidFill>
                <a:latin typeface="Aptos"/>
              </a:defRPr>
            </a:pPr>
            <a:r>
              <a:rPr sz="2800" dirty="0">
                <a:latin typeface="Times New Roman" pitchFamily="18" charset="0"/>
                <a:cs typeface="Times New Roman" pitchFamily="18" charset="0"/>
              </a:rPr>
              <a:t>Data Analysis Essentials</a:t>
            </a:r>
          </a:p>
        </p:txBody>
      </p:sp>
      <p:sp>
        <p:nvSpPr>
          <p:cNvPr id="4" name="TextBox 3"/>
          <p:cNvSpPr txBox="1"/>
          <p:nvPr/>
        </p:nvSpPr>
        <p:spPr>
          <a:xfrm>
            <a:off x="1463040" y="1508760"/>
            <a:ext cx="7315200" cy="446276"/>
          </a:xfrm>
          <a:prstGeom prst="rect">
            <a:avLst/>
          </a:prstGeom>
          <a:noFill/>
        </p:spPr>
        <p:txBody>
          <a:bodyPr wrap="square">
            <a:spAutoFit/>
          </a:bodyPr>
          <a:lstStyle/>
          <a:p>
            <a:pPr algn="ctr">
              <a:spcAft>
                <a:spcPts val="700"/>
              </a:spcAft>
              <a:defRPr sz="2300" b="1">
                <a:solidFill>
                  <a:srgbClr val="C25B30"/>
                </a:solidFill>
                <a:latin typeface="Aptos"/>
              </a:defRPr>
            </a:pPr>
            <a:r>
              <a:rPr dirty="0">
                <a:latin typeface="Times New Roman" pitchFamily="18" charset="0"/>
                <a:cs typeface="Times New Roman" pitchFamily="18" charset="0"/>
              </a:rPr>
              <a:t>Cornerstone Project</a:t>
            </a:r>
          </a:p>
        </p:txBody>
      </p:sp>
      <p:sp>
        <p:nvSpPr>
          <p:cNvPr id="5" name="TextBox 4"/>
          <p:cNvSpPr txBox="1"/>
          <p:nvPr/>
        </p:nvSpPr>
        <p:spPr>
          <a:xfrm>
            <a:off x="640080" y="2331720"/>
            <a:ext cx="8778240" cy="584775"/>
          </a:xfrm>
          <a:prstGeom prst="rect">
            <a:avLst/>
          </a:prstGeom>
          <a:noFill/>
        </p:spPr>
        <p:txBody>
          <a:bodyPr wrap="square">
            <a:spAutoFit/>
          </a:bodyPr>
          <a:lstStyle/>
          <a:p>
            <a:pPr algn="ctr">
              <a:spcAft>
                <a:spcPts val="700"/>
              </a:spcAft>
              <a:defRPr sz="3000" b="1">
                <a:solidFill>
                  <a:srgbClr val="233464"/>
                </a:solidFill>
                <a:latin typeface="Aptos"/>
              </a:defRPr>
            </a:pPr>
            <a:r>
              <a:rPr sz="2800" dirty="0">
                <a:latin typeface="Times New Roman" pitchFamily="18" charset="0"/>
                <a:cs typeface="Times New Roman" pitchFamily="18" charset="0"/>
              </a:rPr>
              <a:t>Spam Message Analysis Using Malicious URLs</a:t>
            </a:r>
          </a:p>
        </p:txBody>
      </p:sp>
      <p:sp>
        <p:nvSpPr>
          <p:cNvPr id="6" name="TextBox 5"/>
          <p:cNvSpPr txBox="1"/>
          <p:nvPr/>
        </p:nvSpPr>
        <p:spPr>
          <a:xfrm>
            <a:off x="1188720" y="2907792"/>
            <a:ext cx="7680960" cy="461665"/>
          </a:xfrm>
          <a:prstGeom prst="rect">
            <a:avLst/>
          </a:prstGeom>
          <a:noFill/>
        </p:spPr>
        <p:txBody>
          <a:bodyPr wrap="square">
            <a:spAutoFit/>
          </a:bodyPr>
          <a:lstStyle/>
          <a:p>
            <a:pPr algn="ctr">
              <a:spcAft>
                <a:spcPts val="700"/>
              </a:spcAft>
              <a:defRPr sz="1800" b="0">
                <a:solidFill>
                  <a:srgbClr val="375BA0"/>
                </a:solidFill>
                <a:latin typeface="Aptos"/>
              </a:defRPr>
            </a:pPr>
            <a:r>
              <a:rPr sz="2400" dirty="0">
                <a:latin typeface="Times New Roman" pitchFamily="18" charset="0"/>
                <a:cs typeface="Times New Roman" pitchFamily="18" charset="0"/>
              </a:rPr>
              <a:t>Exploratory Data Analysis</a:t>
            </a:r>
          </a:p>
        </p:txBody>
      </p:sp>
      <p:sp>
        <p:nvSpPr>
          <p:cNvPr id="7" name="TextBox 6"/>
          <p:cNvSpPr txBox="1"/>
          <p:nvPr/>
        </p:nvSpPr>
        <p:spPr>
          <a:xfrm>
            <a:off x="1051560" y="3657600"/>
            <a:ext cx="7955279" cy="2387833"/>
          </a:xfrm>
          <a:prstGeom prst="rect">
            <a:avLst/>
          </a:prstGeom>
          <a:noFill/>
        </p:spPr>
        <p:txBody>
          <a:bodyPr wrap="square">
            <a:spAutoFit/>
          </a:bodyPr>
          <a:lstStyle/>
          <a:p>
            <a:pPr algn="ctr">
              <a:spcAft>
                <a:spcPts val="700"/>
              </a:spcAft>
              <a:defRPr sz="1400" b="0">
                <a:solidFill>
                  <a:srgbClr val="2D2D2D"/>
                </a:solidFill>
                <a:latin typeface="Aptos"/>
              </a:defRPr>
            </a:pPr>
            <a:r>
              <a:rPr sz="2400" b="1" dirty="0">
                <a:solidFill>
                  <a:srgbClr val="FF0000"/>
                </a:solidFill>
                <a:latin typeface="Times New Roman" pitchFamily="18" charset="0"/>
                <a:cs typeface="Times New Roman" pitchFamily="18" charset="0"/>
              </a:rPr>
              <a:t>Presented by</a:t>
            </a:r>
          </a:p>
          <a:p>
            <a:pPr algn="ctr">
              <a:spcAft>
                <a:spcPts val="700"/>
              </a:spcAft>
              <a:defRPr sz="1400" b="0">
                <a:solidFill>
                  <a:srgbClr val="2D2D2D"/>
                </a:solidFill>
                <a:latin typeface="Aptos"/>
              </a:defRPr>
            </a:pPr>
            <a:r>
              <a:rPr sz="2000" b="1" dirty="0" err="1">
                <a:latin typeface="Times New Roman" pitchFamily="18" charset="0"/>
                <a:cs typeface="Times New Roman" pitchFamily="18" charset="0"/>
              </a:rPr>
              <a:t>G. </a:t>
            </a:r>
            <a:r>
              <a:rPr sz="2000" b="1" dirty="0">
                <a:latin typeface="Times New Roman" pitchFamily="18" charset="0"/>
                <a:cs typeface="Times New Roman" pitchFamily="18" charset="0"/>
              </a:rPr>
              <a:t>Pavan Sai </a:t>
            </a:r>
            <a:r>
              <a:rPr sz="2000" b="1" err="1">
                <a:latin typeface="Times New Roman" pitchFamily="18" charset="0"/>
                <a:cs typeface="Times New Roman" pitchFamily="18" charset="0"/>
              </a:rPr>
              <a:t>Sr</a:t>
            </a:r>
            <a:r>
              <a:rPr sz="2000" b="1">
                <a:latin typeface="Times New Roman" pitchFamily="18" charset="0"/>
                <a:cs typeface="Times New Roman" pitchFamily="18" charset="0"/>
              </a:rPr>
              <a:t>̥</a:t>
            </a:r>
            <a:r>
              <a:rPr lang="en-US" sz="2000" b="1">
                <a:latin typeface="Times New Roman" pitchFamily="18" charset="0"/>
                <a:cs typeface="Times New Roman" pitchFamily="18" charset="0"/>
              </a:rPr>
              <a:t>ikar</a:t>
            </a:r>
            <a:r>
              <a:rPr sz="2000" b="1">
                <a:latin typeface="Times New Roman" pitchFamily="18" charset="0"/>
                <a:cs typeface="Times New Roman" pitchFamily="18" charset="0"/>
              </a:rPr>
              <a:t> </a:t>
            </a:r>
            <a:r>
              <a:rPr sz="2000" b="1" dirty="0" err="1">
                <a:latin typeface="Times New Roman" pitchFamily="18" charset="0"/>
                <a:cs typeface="Times New Roman" pitchFamily="18" charset="0"/>
              </a:rPr>
              <a:t>(25B11CS141)</a:t>
            </a:r>
          </a:p>
          <a:p>
            <a:pPr algn="ctr">
              <a:spcAft>
                <a:spcPts val="700"/>
              </a:spcAft>
              <a:defRPr sz="1400" b="0">
                <a:solidFill>
                  <a:srgbClr val="2D2D2D"/>
                </a:solidFill>
                <a:latin typeface="Aptos"/>
              </a:defRPr>
            </a:pPr>
            <a:r>
              <a:rPr sz="2000" b="1" dirty="0">
                <a:latin typeface="Times New Roman" pitchFamily="18" charset="0"/>
                <a:cs typeface="Times New Roman" pitchFamily="18" charset="0"/>
              </a:rPr>
              <a:t>K. Hasini (25B11CS421)</a:t>
            </a:r>
          </a:p>
          <a:p>
            <a:pPr algn="ctr">
              <a:spcAft>
                <a:spcPts val="700"/>
              </a:spcAft>
              <a:defRPr sz="1400" b="0">
                <a:solidFill>
                  <a:srgbClr val="2D2D2D"/>
                </a:solidFill>
                <a:latin typeface="Aptos"/>
              </a:defRPr>
            </a:pPr>
            <a:r>
              <a:rPr sz="2000" b="1" dirty="0">
                <a:latin typeface="Times New Roman" pitchFamily="18" charset="0"/>
                <a:cs typeface="Times New Roman" pitchFamily="18" charset="0"/>
              </a:rPr>
              <a:t>Ch. Karthik (25B11CS156)</a:t>
            </a:r>
          </a:p>
          <a:p>
            <a:pPr algn="ctr">
              <a:spcAft>
                <a:spcPts val="700"/>
              </a:spcAft>
              <a:defRPr sz="1400" b="0">
                <a:solidFill>
                  <a:srgbClr val="2D2D2D"/>
                </a:solidFill>
                <a:latin typeface="Aptos"/>
              </a:defRPr>
            </a:pPr>
            <a:r>
              <a:rPr sz="2000" b="1" dirty="0">
                <a:latin typeface="Times New Roman" pitchFamily="18" charset="0"/>
                <a:cs typeface="Times New Roman" pitchFamily="18" charset="0"/>
              </a:rPr>
              <a:t>M. Tejaswi (25B11CS621)</a:t>
            </a:r>
          </a:p>
          <a:p>
            <a:pPr algn="ctr">
              <a:spcAft>
                <a:spcPts val="700"/>
              </a:spcAft>
              <a:defRPr sz="1400" b="0">
                <a:solidFill>
                  <a:srgbClr val="2D2D2D"/>
                </a:solidFill>
                <a:latin typeface="Aptos"/>
              </a:defRPr>
            </a:pPr>
            <a:r>
              <a:rPr sz="1600" b="1" dirty="0" err="1">
                <a:latin typeface="Times New Roman" pitchFamily="18" charset="0"/>
                <a:cs typeface="Times New Roman" pitchFamily="18" charset="0"/>
              </a:rPr>
              <a:t>Guide: Mr. K. Ashok Teja, Assistant Professor, CSE Dept.</a:t>
            </a:r>
          </a:p>
        </p:txBody>
      </p:sp>
      <p:sp>
        <p:nvSpPr>
          <p:cNvPr id="8" name="TextBox 7"/>
          <p:cNvSpPr txBox="1"/>
          <p:nvPr/>
        </p:nvSpPr>
        <p:spPr>
          <a:xfrm>
            <a:off x="914400" y="6446520"/>
            <a:ext cx="8229600" cy="400110"/>
          </a:xfrm>
          <a:prstGeom prst="rect">
            <a:avLst/>
          </a:prstGeom>
          <a:noFill/>
        </p:spPr>
        <p:txBody>
          <a:bodyPr wrap="square">
            <a:spAutoFit/>
          </a:bodyPr>
          <a:lstStyle/>
          <a:p>
            <a:pPr algn="ctr">
              <a:spcAft>
                <a:spcPts val="700"/>
              </a:spcAft>
              <a:defRPr sz="1300" b="1">
                <a:solidFill>
                  <a:srgbClr val="233464"/>
                </a:solidFill>
                <a:latin typeface="Aptos"/>
              </a:defRPr>
            </a:pPr>
            <a:r>
              <a:rPr sz="2000" dirty="0">
                <a:latin typeface="Times New Roman" pitchFamily="18" charset="0"/>
                <a:cs typeface="Times New Roman" pitchFamily="18" charset="0"/>
              </a:rPr>
              <a:t>Department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p:cNvSpPr txBox="1"/>
          <p:nvPr/>
        </p:nvSpPr>
        <p:spPr>
          <a:xfrm>
            <a:off x="2545080" y="269414"/>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Contents</a:t>
            </a:r>
            <a:endParaRPr dirty="0">
              <a:solidFill>
                <a:schemeClr val="bg1"/>
              </a:solidFill>
              <a:latin typeface="Times New Roman" pitchFamily="18" charset="0"/>
              <a:cs typeface="Times New Roman" pitchFamily="18" charset="0"/>
            </a:endParaRPr>
          </a:p>
        </p:txBody>
      </p:sp>
      <p:sp>
        <p:nvSpPr>
          <p:cNvPr id="11" name="TextBox 10"/>
          <p:cNvSpPr txBox="1"/>
          <p:nvPr/>
        </p:nvSpPr>
        <p:spPr>
          <a:xfrm>
            <a:off x="1219200" y="1676400"/>
            <a:ext cx="7132320" cy="5511765"/>
          </a:xfrm>
          <a:prstGeom prst="rect">
            <a:avLst/>
          </a:prstGeom>
          <a:noFill/>
        </p:spPr>
        <p:txBody>
          <a:bodyPr wrap="square">
            <a:spAutoFit/>
          </a:bodyPr>
          <a:lstStyle/>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Abstract</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Problem Statement</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Introduction</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Objectives</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Dataset Description</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Sample Dataset</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Work Flow</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Data Visualization</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Libraries Used</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Result</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 Conclusion</a:t>
            </a:r>
          </a:p>
          <a:p>
            <a:pPr algn="l">
              <a:spcAft>
                <a:spcPts val="700"/>
              </a:spcAft>
              <a:defRPr sz="2000" b="0">
                <a:solidFill>
                  <a:srgbClr val="2D2D2D"/>
                </a:solidFill>
                <a:latin typeface="Aptos"/>
              </a:defRPr>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FCBC4-6B47-D5B9-CAC6-1BEE6AD1EAAD}"/>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972736B1-7B44-30C6-4744-15DA5625B59A}"/>
              </a:ext>
            </a:extLst>
          </p:cNvPr>
          <p:cNvPicPr/>
          <p:nvPr/>
        </p:nvPicPr>
        <p:blipFill>
          <a:blip r:embed="rId2" cstate="print"/>
          <a:stretch>
            <a:fillRect/>
          </a:stretch>
        </p:blipFill>
        <p:spPr>
          <a:xfrm>
            <a:off x="290750" y="204311"/>
            <a:ext cx="1163002" cy="424338"/>
          </a:xfrm>
          <a:prstGeom prst="rect">
            <a:avLst/>
          </a:prstGeom>
        </p:spPr>
      </p:pic>
      <p:grpSp>
        <p:nvGrpSpPr>
          <p:cNvPr id="5" name="object 3">
            <a:extLst>
              <a:ext uri="{FF2B5EF4-FFF2-40B4-BE49-F238E27FC236}">
                <a16:creationId xmlns:a16="http://schemas.microsoft.com/office/drawing/2014/main" id="{BD685A21-DD55-B15F-A102-6DCEB9B6A4C2}"/>
              </a:ext>
            </a:extLst>
          </p:cNvPr>
          <p:cNvGrpSpPr/>
          <p:nvPr/>
        </p:nvGrpSpPr>
        <p:grpSpPr>
          <a:xfrm>
            <a:off x="2438400" y="33670"/>
            <a:ext cx="5334000" cy="1198311"/>
            <a:chOff x="2648188" y="47148"/>
            <a:chExt cx="5103904" cy="1198311"/>
          </a:xfrm>
        </p:grpSpPr>
        <p:pic>
          <p:nvPicPr>
            <p:cNvPr id="6" name="object 4">
              <a:extLst>
                <a:ext uri="{FF2B5EF4-FFF2-40B4-BE49-F238E27FC236}">
                  <a16:creationId xmlns:a16="http://schemas.microsoft.com/office/drawing/2014/main" id="{46DCF4B2-1EC1-9D41-8921-97311990BB4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D465B54-13A4-ED85-3710-4418F4198CA6}"/>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5ED9729-900B-4248-8BC2-A3953929D6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472257C-6881-1120-642F-4ABD3EAE7C6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a:extLst>
              <a:ext uri="{FF2B5EF4-FFF2-40B4-BE49-F238E27FC236}">
                <a16:creationId xmlns:a16="http://schemas.microsoft.com/office/drawing/2014/main" id="{F17BEE57-1F8C-3483-DDD6-D2AC2F21CEBC}"/>
              </a:ext>
            </a:extLst>
          </p:cNvPr>
          <p:cNvSpPr txBox="1"/>
          <p:nvPr/>
        </p:nvSpPr>
        <p:spPr>
          <a:xfrm>
            <a:off x="2545080" y="269414"/>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Abstract</a:t>
            </a:r>
            <a:endParaRPr dirty="0">
              <a:solidFill>
                <a:schemeClr val="bg1"/>
              </a:solidFill>
              <a:latin typeface="Times New Roman" pitchFamily="18" charset="0"/>
              <a:cs typeface="Times New Roman" pitchFamily="18" charset="0"/>
            </a:endParaRPr>
          </a:p>
        </p:txBody>
      </p:sp>
      <p:sp>
        <p:nvSpPr>
          <p:cNvPr id="11" name="TextBox 10">
            <a:extLst>
              <a:ext uri="{FF2B5EF4-FFF2-40B4-BE49-F238E27FC236}">
                <a16:creationId xmlns:a16="http://schemas.microsoft.com/office/drawing/2014/main" id="{0DC04D6B-DE6C-DEE1-7781-C2A5DA5492E4}"/>
              </a:ext>
            </a:extLst>
          </p:cNvPr>
          <p:cNvSpPr txBox="1"/>
          <p:nvPr/>
        </p:nvSpPr>
        <p:spPr>
          <a:xfrm>
            <a:off x="1219200" y="1676400"/>
            <a:ext cx="7132320" cy="4552528"/>
          </a:xfrm>
          <a:prstGeom prst="rect">
            <a:avLst/>
          </a:prstGeom>
          <a:noFill/>
        </p:spPr>
        <p:txBody>
          <a:bodyPr wrap="square">
            <a:spAutoFit/>
          </a:bodyPr>
          <a:lstStyle/>
          <a:p>
            <a:pPr algn="l">
              <a:spcAft>
                <a:spcPts val="700"/>
              </a:spcAft>
              <a:defRPr sz="2000" b="0">
                <a:solidFill>
                  <a:srgbClr val="2D2D2D"/>
                </a:solidFill>
                <a:latin typeface="Aptos"/>
              </a:defRPr>
            </a:pPr>
            <a:r>
              <a:rPr lang="en-IN" sz="2000" dirty="0"/>
              <a:t>Malicious URLs are commonly associated with phishing attacks, malware distribution, and other cybersecurity threats. This project focuses on analysing URL data using Python and Exploratory Data Analysis (EDA). The dataset is cleaned and processed to extract features such as URL length, top-level domain (TLD), digit count, HTTPS usage, IP-address patterns, and suspicious keywords. Pandas is used for data manipulation, while Matplotlib is used for data visualization. Different URL categories, including benign, phishing, defacement, and malware, are compared to understand their characteristics. The results help identify patterns in URL structures and provide insights for further cybersecurity research.</a:t>
            </a:r>
          </a:p>
          <a:p>
            <a:pPr algn="l">
              <a:spcAft>
                <a:spcPts val="700"/>
              </a:spcAft>
              <a:defRPr sz="2000" b="0">
                <a:solidFill>
                  <a:srgbClr val="2D2D2D"/>
                </a:solidFill>
                <a:latin typeface="Aptos"/>
              </a:defRPr>
            </a:pP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4243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2667000" y="304800"/>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PROBLEM </a:t>
            </a:r>
            <a:r>
              <a:rPr lang="en-US" dirty="0">
                <a:solidFill>
                  <a:schemeClr val="bg1"/>
                </a:solidFill>
                <a:latin typeface="Times New Roman" pitchFamily="18" charset="0"/>
                <a:cs typeface="Times New Roman" pitchFamily="18" charset="0"/>
              </a:rPr>
              <a:t>STATEMENT</a:t>
            </a:r>
            <a:endParaRPr dirty="0">
              <a:solidFill>
                <a:schemeClr val="bg1"/>
              </a:solidFill>
              <a:latin typeface="Times New Roman" pitchFamily="18" charset="0"/>
              <a:cs typeface="Times New Roman" pitchFamily="18" charset="0"/>
            </a:endParaRPr>
          </a:p>
        </p:txBody>
      </p:sp>
      <p:sp>
        <p:nvSpPr>
          <p:cNvPr id="12" name="TextBox 11"/>
          <p:cNvSpPr txBox="1"/>
          <p:nvPr/>
        </p:nvSpPr>
        <p:spPr>
          <a:xfrm>
            <a:off x="609600" y="1524000"/>
            <a:ext cx="8686800" cy="2677656"/>
          </a:xfrm>
          <a:prstGeom prst="rect">
            <a:avLst/>
          </a:prstGeom>
          <a:noFill/>
        </p:spPr>
        <p:txBody>
          <a:bodyPr wrap="square">
            <a:spAutoFit/>
          </a:bodyPr>
          <a:lstStyle/>
          <a:p>
            <a:pPr algn="just">
              <a:spcAft>
                <a:spcPts val="700"/>
              </a:spcAft>
              <a:defRPr sz="1900" b="0">
                <a:solidFill>
                  <a:srgbClr val="2D2D2D"/>
                </a:solidFill>
                <a:latin typeface="Aptos"/>
              </a:defRPr>
            </a:pPr>
            <a:r>
              <a:rPr lang="en-US" sz="2800" dirty="0">
                <a:latin typeface="Times New Roman" panose="02020603050405020304" pitchFamily="18" charset="0"/>
                <a:cs typeface="Times New Roman" panose="02020603050405020304" pitchFamily="18" charset="0"/>
              </a:rPr>
              <a:t>Malicious URLs can be used for phishing, malware distribution, and other harmful activities. </a:t>
            </a:r>
            <a:r>
              <a:rPr lang="en-US" sz="2800" dirty="0" err="1">
                <a:latin typeface="Times New Roman" panose="02020603050405020304" pitchFamily="18" charset="0"/>
                <a:cs typeface="Times New Roman" panose="02020603050405020304" pitchFamily="18" charset="0"/>
              </a:rPr>
              <a:t>Analysing</a:t>
            </a:r>
            <a:r>
              <a:rPr lang="en-US" sz="2800" dirty="0">
                <a:latin typeface="Times New Roman" panose="02020603050405020304" pitchFamily="18" charset="0"/>
                <a:cs typeface="Times New Roman" panose="02020603050405020304" pitchFamily="18" charset="0"/>
              </a:rPr>
              <a:t> large URL datasets manually is time-consuming. URL characteristics such as length, digits can reveal useful patterns. A systematic data analysis approach is needed to compare different URL categories.</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0"/>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468880" y="21633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Introduction</a:t>
            </a:r>
          </a:p>
        </p:txBody>
      </p:sp>
      <p:sp>
        <p:nvSpPr>
          <p:cNvPr id="19" name="TextBox 18"/>
          <p:cNvSpPr txBox="1"/>
          <p:nvPr/>
        </p:nvSpPr>
        <p:spPr>
          <a:xfrm>
            <a:off x="685800" y="1417320"/>
            <a:ext cx="8778240" cy="5262979"/>
          </a:xfrm>
          <a:prstGeom prst="rect">
            <a:avLst/>
          </a:prstGeom>
          <a:noFill/>
        </p:spPr>
        <p:txBody>
          <a:bodyPr wrap="square">
            <a:spAutoFit/>
          </a:bodyPr>
          <a:lstStyle/>
          <a:p>
            <a:pPr marL="457200" lvl="0" indent="-457200">
              <a:buFont typeface="Arial" panose="020B0604020202020204" pitchFamily="34" charset="0"/>
              <a:buChar char="•"/>
            </a:pPr>
            <a:r>
              <a:rPr lang="en-IN" sz="2800" dirty="0"/>
              <a:t>Malicious URLs can pose security risks to internet users.</a:t>
            </a:r>
          </a:p>
          <a:p>
            <a:pPr marL="457200" lvl="0" indent="-457200">
              <a:buFont typeface="Arial" panose="020B0604020202020204" pitchFamily="34" charset="0"/>
              <a:buChar char="•"/>
            </a:pPr>
            <a:r>
              <a:rPr lang="en-US" sz="2800" dirty="0"/>
              <a:t>This project analyzes URL data</a:t>
            </a:r>
          </a:p>
          <a:p>
            <a:pPr marL="457200" lvl="0" indent="-457200">
              <a:buFont typeface="Arial" panose="020B0604020202020204" pitchFamily="34" charset="0"/>
              <a:buChar char="•"/>
            </a:pPr>
            <a:r>
              <a:rPr lang="en-US" sz="2800"/>
              <a:t>It cleans the data and examines URL features—such as length, domain, HTTPS, and suspicious words—to find patterns that may help identify harmful links.</a:t>
            </a:r>
            <a:endParaRPr lang="en-IN" sz="2800" dirty="0"/>
          </a:p>
          <a:p>
            <a:pPr marL="457200" lvl="0" indent="-457200">
              <a:buFont typeface="Arial" panose="020B0604020202020204" pitchFamily="34" charset="0"/>
              <a:buChar char="•"/>
            </a:pPr>
            <a:r>
              <a:rPr lang="en-IN" sz="2800" dirty="0"/>
              <a:t>URL datasets contain useful information about different types of links.</a:t>
            </a:r>
          </a:p>
          <a:p>
            <a:pPr marL="457200" lvl="0" indent="-457200">
              <a:buFont typeface="Arial" panose="020B0604020202020204" pitchFamily="34" charset="0"/>
              <a:buChar char="•"/>
            </a:pPr>
            <a:r>
              <a:rPr lang="en-IN" sz="2800" dirty="0"/>
              <a:t>URL features are extracted to compare different URL categories.</a:t>
            </a:r>
          </a:p>
          <a:p>
            <a:pPr algn="l">
              <a:spcAft>
                <a:spcPts val="700"/>
              </a:spcAft>
              <a:defRPr sz="1900" b="0">
                <a:solidFill>
                  <a:srgbClr val="2D2D2D"/>
                </a:solidFill>
                <a:latin typeface="Aptos"/>
              </a:defRPr>
            </a:pP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D5FE5-6866-3030-9944-C52624E3B4F0}"/>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FE2D9D74-834B-1312-3355-4FA082E3A72F}"/>
              </a:ext>
            </a:extLst>
          </p:cNvPr>
          <p:cNvGrpSpPr/>
          <p:nvPr/>
        </p:nvGrpSpPr>
        <p:grpSpPr>
          <a:xfrm>
            <a:off x="2667000" y="0"/>
            <a:ext cx="5103904" cy="1198311"/>
            <a:chOff x="2648188" y="47148"/>
            <a:chExt cx="5103904" cy="1198311"/>
          </a:xfrm>
        </p:grpSpPr>
        <p:pic>
          <p:nvPicPr>
            <p:cNvPr id="5" name="object 4">
              <a:extLst>
                <a:ext uri="{FF2B5EF4-FFF2-40B4-BE49-F238E27FC236}">
                  <a16:creationId xmlns:a16="http://schemas.microsoft.com/office/drawing/2014/main" id="{F37C8B88-08CB-F9F3-5CCD-8A17E4ADCD71}"/>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19510A83-D453-068F-79B9-5F47111835EF}"/>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B9BC1B4-5656-A361-0DC2-A1D125D3A583}"/>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2EB4DE78-1D1B-1490-A69F-CC13075EDE6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899DFEAC-6668-6F49-EA31-E58B91273A12}"/>
              </a:ext>
            </a:extLst>
          </p:cNvPr>
          <p:cNvPicPr/>
          <p:nvPr/>
        </p:nvPicPr>
        <p:blipFill>
          <a:blip r:embed="rId5" cstate="print"/>
          <a:stretch>
            <a:fillRect/>
          </a:stretch>
        </p:blipFill>
        <p:spPr>
          <a:xfrm>
            <a:off x="290750" y="204311"/>
            <a:ext cx="1163002" cy="424338"/>
          </a:xfrm>
          <a:prstGeom prst="rect">
            <a:avLst/>
          </a:prstGeom>
        </p:spPr>
      </p:pic>
      <p:sp>
        <p:nvSpPr>
          <p:cNvPr id="18" name="TextBox 17">
            <a:extLst>
              <a:ext uri="{FF2B5EF4-FFF2-40B4-BE49-F238E27FC236}">
                <a16:creationId xmlns:a16="http://schemas.microsoft.com/office/drawing/2014/main" id="{96DEFE50-AA2D-7B97-C8C6-1DE6FFE3B99A}"/>
              </a:ext>
            </a:extLst>
          </p:cNvPr>
          <p:cNvSpPr txBox="1"/>
          <p:nvPr/>
        </p:nvSpPr>
        <p:spPr>
          <a:xfrm>
            <a:off x="2468880" y="21633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Objective</a:t>
            </a:r>
            <a:endParaRPr dirty="0">
              <a:solidFill>
                <a:schemeClr val="bg1"/>
              </a:solidFill>
              <a:latin typeface="Times New Roman" pitchFamily="18" charset="0"/>
              <a:cs typeface="Times New Roman" pitchFamily="18" charset="0"/>
            </a:endParaRPr>
          </a:p>
        </p:txBody>
      </p:sp>
      <p:sp>
        <p:nvSpPr>
          <p:cNvPr id="19" name="TextBox 18">
            <a:extLst>
              <a:ext uri="{FF2B5EF4-FFF2-40B4-BE49-F238E27FC236}">
                <a16:creationId xmlns:a16="http://schemas.microsoft.com/office/drawing/2014/main" id="{FA0C5CC5-F59B-1098-C633-E122C7CFD5B1}"/>
              </a:ext>
            </a:extLst>
          </p:cNvPr>
          <p:cNvSpPr txBox="1"/>
          <p:nvPr/>
        </p:nvSpPr>
        <p:spPr>
          <a:xfrm>
            <a:off x="685800" y="1417320"/>
            <a:ext cx="8778240" cy="4216539"/>
          </a:xfrm>
          <a:prstGeom prst="rect">
            <a:avLst/>
          </a:prstGeom>
          <a:noFill/>
        </p:spPr>
        <p:txBody>
          <a:bodyPr wrap="square">
            <a:spAutoFit/>
          </a:bodyPr>
          <a:lstStyle/>
          <a:p>
            <a:pPr marL="457200" lvl="0" indent="-457200">
              <a:buFont typeface="Arial" panose="020B0604020202020204" pitchFamily="34" charset="0"/>
              <a:buChar char="•"/>
            </a:pPr>
            <a:r>
              <a:rPr lang="en-IN" sz="2400" dirty="0"/>
              <a:t>To analyse URL data using Python.</a:t>
            </a:r>
          </a:p>
          <a:p>
            <a:pPr marL="457200" lvl="0" indent="-457200">
              <a:buFont typeface="Arial" panose="020B0604020202020204" pitchFamily="34" charset="0"/>
              <a:buChar char="•"/>
            </a:pPr>
            <a:r>
              <a:rPr lang="en-IN" sz="2400" dirty="0"/>
              <a:t>To clean the dataset and handle missing or duplicate records.</a:t>
            </a:r>
          </a:p>
          <a:p>
            <a:pPr marL="457200" lvl="0" indent="-457200">
              <a:buFont typeface="Arial" panose="020B0604020202020204" pitchFamily="34" charset="0"/>
              <a:buChar char="•"/>
            </a:pPr>
            <a:r>
              <a:rPr lang="en-IN" sz="2400" dirty="0"/>
              <a:t>To extract meaningful features from URLs.</a:t>
            </a:r>
          </a:p>
          <a:p>
            <a:pPr marL="457200" lvl="0" indent="-457200">
              <a:buFont typeface="Arial" panose="020B0604020202020204" pitchFamily="34" charset="0"/>
              <a:buChar char="•"/>
            </a:pPr>
            <a:r>
              <a:rPr lang="en-IN" sz="2400" dirty="0"/>
              <a:t>To compare benign, phishing, defacement, and malware categories.</a:t>
            </a:r>
          </a:p>
          <a:p>
            <a:pPr marL="457200" lvl="0" indent="-457200">
              <a:buFont typeface="Arial" panose="020B0604020202020204" pitchFamily="34" charset="0"/>
              <a:buChar char="•"/>
            </a:pPr>
            <a:r>
              <a:rPr lang="en-IN" sz="2400" dirty="0"/>
              <a:t>To visualize URL characteristics using different charts.</a:t>
            </a:r>
          </a:p>
          <a:p>
            <a:pPr marL="457200" lvl="0" indent="-457200">
              <a:buFont typeface="Arial" panose="020B0604020202020204" pitchFamily="34" charset="0"/>
              <a:buChar char="•"/>
            </a:pPr>
            <a:r>
              <a:rPr lang="en-IN" sz="2400" dirty="0"/>
              <a:t>To identify patterns and relationships between URL features.</a:t>
            </a:r>
          </a:p>
          <a:p>
            <a:pPr marL="457200" lvl="0" indent="-457200">
              <a:buFont typeface="Arial" panose="020B0604020202020204" pitchFamily="34" charset="0"/>
              <a:buChar char="•"/>
            </a:pPr>
            <a:r>
              <a:rPr lang="en-IN" sz="2400" dirty="0"/>
              <a:t>To export the enriched dataset for further analysis.</a:t>
            </a:r>
          </a:p>
          <a:p>
            <a:pPr algn="l">
              <a:spcAft>
                <a:spcPts val="700"/>
              </a:spcAft>
              <a:defRPr sz="1900" b="0">
                <a:solidFill>
                  <a:srgbClr val="2D2D2D"/>
                </a:solidFill>
                <a:latin typeface="Aptos"/>
              </a:defRPr>
            </a:pP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513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493C539F-A86A-512C-CDC1-7D279B60EB1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EF4257B-2B43-17B3-FF4F-1187B669162A}"/>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6F1369C-4970-FF55-E67B-BCF08160A62A}"/>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F69E22F-BC21-03E7-F9F3-42AA69CA9E9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70ED999-51AF-0BD8-F3EE-37C965CA5C3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22007" y="286489"/>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DATASET DESCRIPTION</a:t>
            </a:r>
          </a:p>
        </p:txBody>
      </p:sp>
      <p:sp>
        <p:nvSpPr>
          <p:cNvPr id="19" name="TextBox 18"/>
          <p:cNvSpPr txBox="1"/>
          <p:nvPr/>
        </p:nvSpPr>
        <p:spPr>
          <a:xfrm>
            <a:off x="777240" y="1143000"/>
            <a:ext cx="8046720" cy="461665"/>
          </a:xfrm>
          <a:prstGeom prst="rect">
            <a:avLst/>
          </a:prstGeom>
          <a:noFill/>
        </p:spPr>
        <p:txBody>
          <a:bodyPr wrap="square">
            <a:spAutoFit/>
          </a:bodyPr>
          <a:lstStyle/>
          <a:p>
            <a:pPr algn="ctr">
              <a:spcAft>
                <a:spcPts val="700"/>
              </a:spcAft>
              <a:defRPr sz="1900" b="1">
                <a:solidFill>
                  <a:srgbClr val="233464"/>
                </a:solidFill>
                <a:latin typeface="Aptos"/>
              </a:defRPr>
            </a:pPr>
            <a:r>
              <a:rPr sz="2400" dirty="0">
                <a:latin typeface="Times New Roman" pitchFamily="18" charset="0"/>
                <a:cs typeface="Times New Roman" pitchFamily="18" charset="0"/>
              </a:rPr>
              <a:t>Malicious URL dataset used to study URL patterns and types</a:t>
            </a:r>
          </a:p>
        </p:txBody>
      </p:sp>
      <p:graphicFrame>
        <p:nvGraphicFramePr>
          <p:cNvPr id="20" name="Table 19"/>
          <p:cNvGraphicFramePr>
            <a:graphicFrameLocks noGrp="1"/>
          </p:cNvGraphicFramePr>
          <p:nvPr>
            <p:extLst>
              <p:ext uri="{D42A27DB-BD31-4B8C-83A1-F6EECF244321}">
                <p14:modId xmlns:p14="http://schemas.microsoft.com/office/powerpoint/2010/main" val="1413859725"/>
              </p:ext>
            </p:extLst>
          </p:nvPr>
        </p:nvGraphicFramePr>
        <p:xfrm>
          <a:off x="2133600" y="1943691"/>
          <a:ext cx="5414042" cy="4211965"/>
        </p:xfrm>
        <a:graphic>
          <a:graphicData uri="http://schemas.openxmlformats.org/drawingml/2006/table">
            <a:tbl>
              <a:tblPr firstRow="1" bandRow="1">
                <a:tableStyleId>{5C22544A-7EE6-4342-B048-85BDC9FD1C3A}</a:tableStyleId>
              </a:tblPr>
              <a:tblGrid>
                <a:gridCol w="1878341">
                  <a:extLst>
                    <a:ext uri="{9D8B030D-6E8A-4147-A177-3AD203B41FA5}">
                      <a16:colId xmlns:a16="http://schemas.microsoft.com/office/drawing/2014/main" val="20000"/>
                    </a:ext>
                  </a:extLst>
                </a:gridCol>
                <a:gridCol w="3535701">
                  <a:extLst>
                    <a:ext uri="{9D8B030D-6E8A-4147-A177-3AD203B41FA5}">
                      <a16:colId xmlns:a16="http://schemas.microsoft.com/office/drawing/2014/main" val="20001"/>
                    </a:ext>
                  </a:extLst>
                </a:gridCol>
              </a:tblGrid>
              <a:tr h="601709">
                <a:tc>
                  <a:txBody>
                    <a:bodyPr/>
                    <a:lstStyle/>
                    <a:p>
                      <a:pPr>
                        <a:defRPr sz="1100" b="1">
                          <a:solidFill>
                            <a:srgbClr val="FFFFFF"/>
                          </a:solidFill>
                          <a:latin typeface="Times New Roman"/>
                        </a:defRPr>
                      </a:pPr>
                      <a:r>
                        <a:rPr dirty="0"/>
                        <a:t>Field</a:t>
                      </a:r>
                      <a:r>
                        <a:rPr lang="en-US" dirty="0"/>
                        <a:t>\\\\\\</a:t>
                      </a:r>
                      <a:endParaRPr dirty="0"/>
                    </a:p>
                  </a:txBody>
                  <a:tcPr marT="25400" marB="25400">
                    <a:solidFill>
                      <a:srgbClr val="233464"/>
                    </a:solidFill>
                  </a:tcPr>
                </a:tc>
                <a:tc>
                  <a:txBody>
                    <a:bodyPr/>
                    <a:lstStyle/>
                    <a:p>
                      <a:pPr>
                        <a:defRPr sz="1100" b="1">
                          <a:solidFill>
                            <a:srgbClr val="FFFFFF"/>
                          </a:solidFill>
                          <a:latin typeface="Times New Roman"/>
                        </a:defRPr>
                      </a:pPr>
                      <a:r>
                        <a:rPr dirty="0"/>
                        <a:t>Description</a:t>
                      </a:r>
                    </a:p>
                  </a:txBody>
                  <a:tcPr marT="25400" marB="25400">
                    <a:solidFill>
                      <a:srgbClr val="233464"/>
                    </a:solidFill>
                  </a:tcPr>
                </a:tc>
                <a:extLst>
                  <a:ext uri="{0D108BD9-81ED-4DB2-BD59-A6C34878D82A}">
                    <a16:rowId xmlns:a16="http://schemas.microsoft.com/office/drawing/2014/main" val="10000"/>
                  </a:ext>
                </a:extLst>
              </a:tr>
              <a:tr h="601709">
                <a:tc>
                  <a:txBody>
                    <a:bodyPr/>
                    <a:lstStyle/>
                    <a:p>
                      <a:pPr>
                        <a:defRPr sz="1100">
                          <a:solidFill>
                            <a:srgbClr val="2D2D2D"/>
                          </a:solidFill>
                          <a:latin typeface="Times New Roman"/>
                        </a:defRPr>
                      </a:pPr>
                      <a:r>
                        <a:t>url</a:t>
                      </a:r>
                    </a:p>
                  </a:txBody>
                  <a:tcPr marT="25400" marB="25400">
                    <a:solidFill>
                      <a:srgbClr val="FFFFFF"/>
                    </a:solidFill>
                  </a:tcPr>
                </a:tc>
                <a:tc>
                  <a:txBody>
                    <a:bodyPr/>
                    <a:lstStyle/>
                    <a:p>
                      <a:pPr>
                        <a:defRPr sz="1100">
                          <a:solidFill>
                            <a:srgbClr val="2D2D2D"/>
                          </a:solidFill>
                          <a:latin typeface="Times New Roman"/>
                        </a:defRPr>
                      </a:pPr>
                      <a:r>
                        <a:t>The URL text</a:t>
                      </a:r>
                    </a:p>
                  </a:txBody>
                  <a:tcPr marT="25400" marB="25400">
                    <a:solidFill>
                      <a:srgbClr val="FFFFFF"/>
                    </a:solidFill>
                  </a:tcPr>
                </a:tc>
                <a:extLst>
                  <a:ext uri="{0D108BD9-81ED-4DB2-BD59-A6C34878D82A}">
                    <a16:rowId xmlns:a16="http://schemas.microsoft.com/office/drawing/2014/main" val="10001"/>
                  </a:ext>
                </a:extLst>
              </a:tr>
              <a:tr h="601709">
                <a:tc>
                  <a:txBody>
                    <a:bodyPr/>
                    <a:lstStyle/>
                    <a:p>
                      <a:pPr>
                        <a:defRPr sz="1100">
                          <a:solidFill>
                            <a:srgbClr val="2D2D2D"/>
                          </a:solidFill>
                          <a:latin typeface="Times New Roman"/>
                        </a:defRPr>
                      </a:pPr>
                      <a:r>
                        <a:t>type</a:t>
                      </a:r>
                    </a:p>
                  </a:txBody>
                  <a:tcPr marT="25400" marB="25400">
                    <a:solidFill>
                      <a:srgbClr val="F4F6FB"/>
                    </a:solidFill>
                  </a:tcPr>
                </a:tc>
                <a:tc>
                  <a:txBody>
                    <a:bodyPr/>
                    <a:lstStyle/>
                    <a:p>
                      <a:pPr>
                        <a:defRPr sz="1100">
                          <a:solidFill>
                            <a:srgbClr val="2D2D2D"/>
                          </a:solidFill>
                          <a:latin typeface="Times New Roman"/>
                        </a:defRPr>
                      </a:pPr>
                      <a:r>
                        <a:t>URL class: benign, phishing, defacement or malware</a:t>
                      </a:r>
                    </a:p>
                  </a:txBody>
                  <a:tcPr marT="25400" marB="25400">
                    <a:solidFill>
                      <a:srgbClr val="F4F6FB"/>
                    </a:solidFill>
                  </a:tcPr>
                </a:tc>
                <a:extLst>
                  <a:ext uri="{0D108BD9-81ED-4DB2-BD59-A6C34878D82A}">
                    <a16:rowId xmlns:a16="http://schemas.microsoft.com/office/drawing/2014/main" val="10002"/>
                  </a:ext>
                </a:extLst>
              </a:tr>
              <a:tr h="601709">
                <a:tc>
                  <a:txBody>
                    <a:bodyPr/>
                    <a:lstStyle/>
                    <a:p>
                      <a:pPr>
                        <a:defRPr sz="1100">
                          <a:solidFill>
                            <a:srgbClr val="2D2D2D"/>
                          </a:solidFill>
                          <a:latin typeface="Times New Roman"/>
                        </a:defRPr>
                      </a:pPr>
                      <a:r>
                        <a:t>url_length</a:t>
                      </a:r>
                    </a:p>
                  </a:txBody>
                  <a:tcPr marT="25400" marB="25400">
                    <a:solidFill>
                      <a:srgbClr val="FFFFFF"/>
                    </a:solidFill>
                  </a:tcPr>
                </a:tc>
                <a:tc>
                  <a:txBody>
                    <a:bodyPr/>
                    <a:lstStyle/>
                    <a:p>
                      <a:pPr>
                        <a:defRPr sz="1100">
                          <a:solidFill>
                            <a:srgbClr val="2D2D2D"/>
                          </a:solidFill>
                          <a:latin typeface="Times New Roman"/>
                        </a:defRPr>
                      </a:pPr>
                      <a:r>
                        <a:t>Length of the URL</a:t>
                      </a:r>
                    </a:p>
                  </a:txBody>
                  <a:tcPr marT="25400" marB="25400">
                    <a:solidFill>
                      <a:srgbClr val="FFFFFF"/>
                    </a:solidFill>
                  </a:tcPr>
                </a:tc>
                <a:extLst>
                  <a:ext uri="{0D108BD9-81ED-4DB2-BD59-A6C34878D82A}">
                    <a16:rowId xmlns:a16="http://schemas.microsoft.com/office/drawing/2014/main" val="10003"/>
                  </a:ext>
                </a:extLst>
              </a:tr>
              <a:tr h="601709">
                <a:tc>
                  <a:txBody>
                    <a:bodyPr/>
                    <a:lstStyle/>
                    <a:p>
                      <a:pPr>
                        <a:defRPr sz="1100">
                          <a:solidFill>
                            <a:srgbClr val="2D2D2D"/>
                          </a:solidFill>
                          <a:latin typeface="Times New Roman"/>
                        </a:defRPr>
                      </a:pPr>
                      <a:r>
                        <a:t>tld</a:t>
                      </a:r>
                    </a:p>
                  </a:txBody>
                  <a:tcPr marT="25400" marB="25400">
                    <a:solidFill>
                      <a:srgbClr val="F4F6FB"/>
                    </a:solidFill>
                  </a:tcPr>
                </a:tc>
                <a:tc>
                  <a:txBody>
                    <a:bodyPr/>
                    <a:lstStyle/>
                    <a:p>
                      <a:pPr>
                        <a:defRPr sz="1100">
                          <a:solidFill>
                            <a:srgbClr val="2D2D2D"/>
                          </a:solidFill>
                          <a:latin typeface="Times New Roman"/>
                        </a:defRPr>
                      </a:pPr>
                      <a:r>
                        <a:t>Top-level domain (.com, .org, ...)</a:t>
                      </a:r>
                    </a:p>
                  </a:txBody>
                  <a:tcPr marT="25400" marB="25400">
                    <a:solidFill>
                      <a:srgbClr val="F4F6FB"/>
                    </a:solidFill>
                  </a:tcPr>
                </a:tc>
                <a:extLst>
                  <a:ext uri="{0D108BD9-81ED-4DB2-BD59-A6C34878D82A}">
                    <a16:rowId xmlns:a16="http://schemas.microsoft.com/office/drawing/2014/main" val="10004"/>
                  </a:ext>
                </a:extLst>
              </a:tr>
              <a:tr h="601709">
                <a:tc>
                  <a:txBody>
                    <a:bodyPr/>
                    <a:lstStyle/>
                    <a:p>
                      <a:pPr>
                        <a:defRPr sz="1100">
                          <a:solidFill>
                            <a:srgbClr val="2D2D2D"/>
                          </a:solidFill>
                          <a:latin typeface="Times New Roman"/>
                        </a:defRPr>
                      </a:pPr>
                      <a:r>
                        <a:t>digit_count</a:t>
                      </a:r>
                    </a:p>
                  </a:txBody>
                  <a:tcPr marT="25400" marB="25400">
                    <a:solidFill>
                      <a:srgbClr val="FFFFFF"/>
                    </a:solidFill>
                  </a:tcPr>
                </a:tc>
                <a:tc>
                  <a:txBody>
                    <a:bodyPr/>
                    <a:lstStyle/>
                    <a:p>
                      <a:pPr>
                        <a:defRPr sz="1100">
                          <a:solidFill>
                            <a:srgbClr val="2D2D2D"/>
                          </a:solidFill>
                          <a:latin typeface="Times New Roman"/>
                        </a:defRPr>
                      </a:pPr>
                      <a:r>
                        <a:rPr dirty="0"/>
                        <a:t>Number of digits in the URL</a:t>
                      </a:r>
                    </a:p>
                  </a:txBody>
                  <a:tcPr marT="25400" marB="25400">
                    <a:solidFill>
                      <a:srgbClr val="FFFFFF"/>
                    </a:solidFill>
                  </a:tcPr>
                </a:tc>
                <a:extLst>
                  <a:ext uri="{0D108BD9-81ED-4DB2-BD59-A6C34878D82A}">
                    <a16:rowId xmlns:a16="http://schemas.microsoft.com/office/drawing/2014/main" val="10005"/>
                  </a:ext>
                </a:extLst>
              </a:tr>
              <a:tr h="601711">
                <a:tc>
                  <a:txBody>
                    <a:bodyPr/>
                    <a:lstStyle/>
                    <a:p>
                      <a:pPr>
                        <a:defRPr sz="1100">
                          <a:solidFill>
                            <a:srgbClr val="2D2D2D"/>
                          </a:solidFill>
                          <a:latin typeface="Times New Roman"/>
                        </a:defRPr>
                      </a:pPr>
                      <a:r>
                        <a:t>keyword_count</a:t>
                      </a:r>
                    </a:p>
                  </a:txBody>
                  <a:tcPr marT="25400" marB="25400">
                    <a:solidFill>
                      <a:srgbClr val="F4F6FB"/>
                    </a:solidFill>
                  </a:tcPr>
                </a:tc>
                <a:tc>
                  <a:txBody>
                    <a:bodyPr/>
                    <a:lstStyle/>
                    <a:p>
                      <a:pPr>
                        <a:defRPr sz="1100">
                          <a:solidFill>
                            <a:srgbClr val="2D2D2D"/>
                          </a:solidFill>
                          <a:latin typeface="Times New Roman"/>
                        </a:defRPr>
                      </a:pPr>
                      <a:r>
                        <a:rPr dirty="0"/>
                        <a:t>Count of suspicious keywords</a:t>
                      </a:r>
                    </a:p>
                  </a:txBody>
                  <a:tcPr marT="25400" marB="25400">
                    <a:solidFill>
                      <a:srgbClr val="F4F6FB"/>
                    </a:solidFill>
                  </a:tcPr>
                </a:tc>
                <a:extLst>
                  <a:ext uri="{0D108BD9-81ED-4DB2-BD59-A6C34878D82A}">
                    <a16:rowId xmlns:a16="http://schemas.microsoft.com/office/drawing/2014/main" val="10006"/>
                  </a:ext>
                </a:extLst>
              </a:tr>
            </a:tbl>
          </a:graphicData>
        </a:graphic>
      </p:graphicFrame>
      <p:sp>
        <p:nvSpPr>
          <p:cNvPr id="24" name="TextBox 23"/>
          <p:cNvSpPr txBox="1"/>
          <p:nvPr/>
        </p:nvSpPr>
        <p:spPr>
          <a:xfrm>
            <a:off x="1143000" y="6477000"/>
            <a:ext cx="9144000" cy="457200"/>
          </a:xfrm>
          <a:prstGeom prst="rect">
            <a:avLst/>
          </a:prstGeom>
          <a:noFill/>
        </p:spPr>
        <p:txBody>
          <a:bodyPr wrap="square">
            <a:spAutoFit/>
          </a:bodyPr>
          <a:lstStyle/>
          <a:p>
            <a:r>
              <a:rPr sz="1200" i="1" dirty="0">
                <a:solidFill>
                  <a:srgbClr val="808080"/>
                </a:solidFill>
                <a:latin typeface="Times New Roman"/>
              </a:rPr>
              <a:t>Raw data has o</a:t>
            </a:r>
            <a:r>
              <a:rPr lang="en-IN" sz="1200" i="1" dirty="0">
                <a:solidFill>
                  <a:srgbClr val="808080"/>
                </a:solidFill>
                <a:latin typeface="Times New Roman"/>
              </a:rPr>
              <a:t>n</a:t>
            </a:r>
            <a:r>
              <a:rPr sz="1200" i="1" dirty="0" err="1">
                <a:solidFill>
                  <a:srgbClr val="808080"/>
                </a:solidFill>
                <a:latin typeface="Times New Roman"/>
              </a:rPr>
              <a:t>ly</a:t>
            </a:r>
            <a:r>
              <a:rPr sz="1200" i="1" dirty="0">
                <a:solidFill>
                  <a:srgbClr val="808080"/>
                </a:solidFill>
                <a:latin typeface="Times New Roman"/>
              </a:rPr>
              <a:t> the URL and its type. The other features are created during analysis.</a:t>
            </a:r>
          </a:p>
        </p:txBody>
      </p:sp>
    </p:spTree>
    <p:extLst>
      <p:ext uri="{BB962C8B-B14F-4D97-AF65-F5344CB8AC3E}">
        <p14:creationId xmlns:p14="http://schemas.microsoft.com/office/powerpoint/2010/main" val="3510378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59FB7-3D5C-6EED-1FAB-0FC3BC397F5D}"/>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96303E9A-42B8-C6A1-DEDC-973EA99B22D3}"/>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4A129EBA-00E1-355A-5C5D-AEEDC08748DF}"/>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799D8400-FBAA-A7C9-57FA-F45D7493029C}"/>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88F64EE-7973-E8B3-5F46-162DE5A47010}"/>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43FD707-D218-8500-D8AF-4345B4AAD2CE}"/>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2ACC2AE2-50BB-D161-5613-16A0F18017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a:extLst>
              <a:ext uri="{FF2B5EF4-FFF2-40B4-BE49-F238E27FC236}">
                <a16:creationId xmlns:a16="http://schemas.microsoft.com/office/drawing/2014/main" id="{93358920-5532-8E5D-67FC-3CA9EF1C295E}"/>
              </a:ext>
            </a:extLst>
          </p:cNvPr>
          <p:cNvSpPr txBox="1"/>
          <p:nvPr/>
        </p:nvSpPr>
        <p:spPr>
          <a:xfrm>
            <a:off x="2722007" y="286489"/>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Sample Dataset</a:t>
            </a:r>
            <a:endParaRPr dirty="0">
              <a:solidFill>
                <a:schemeClr val="bg1"/>
              </a:solidFill>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A2E5FDEE-AF86-DB73-A3ED-7A4941C257BC}"/>
              </a:ext>
            </a:extLst>
          </p:cNvPr>
          <p:cNvSpPr txBox="1"/>
          <p:nvPr/>
        </p:nvSpPr>
        <p:spPr>
          <a:xfrm>
            <a:off x="3204242" y="6300908"/>
            <a:ext cx="184731" cy="369332"/>
          </a:xfrm>
          <a:prstGeom prst="rect">
            <a:avLst/>
          </a:prstGeom>
          <a:noFill/>
        </p:spPr>
        <p:txBody>
          <a:bodyPr wrap="none" rtlCol="0">
            <a:spAutoFit/>
          </a:bodyPr>
          <a:lstStyle/>
          <a:p>
            <a:endParaRPr lang="en-IN" dirty="0"/>
          </a:p>
        </p:txBody>
      </p:sp>
      <p:graphicFrame>
        <p:nvGraphicFramePr>
          <p:cNvPr id="14" name="Table 13">
            <a:extLst>
              <a:ext uri="{FF2B5EF4-FFF2-40B4-BE49-F238E27FC236}">
                <a16:creationId xmlns:a16="http://schemas.microsoft.com/office/drawing/2014/main" id="{A97868FD-8ED3-3E77-BA90-F7A8E7E0EDE7}"/>
              </a:ext>
            </a:extLst>
          </p:cNvPr>
          <p:cNvGraphicFramePr>
            <a:graphicFrameLocks noGrp="1"/>
          </p:cNvGraphicFramePr>
          <p:nvPr>
            <p:extLst>
              <p:ext uri="{D42A27DB-BD31-4B8C-83A1-F6EECF244321}">
                <p14:modId xmlns:p14="http://schemas.microsoft.com/office/powerpoint/2010/main" val="1247540934"/>
              </p:ext>
            </p:extLst>
          </p:nvPr>
        </p:nvGraphicFramePr>
        <p:xfrm>
          <a:off x="1676400" y="1651000"/>
          <a:ext cx="6781800" cy="2616200"/>
        </p:xfrm>
        <a:graphic>
          <a:graphicData uri="http://schemas.openxmlformats.org/drawingml/2006/table">
            <a:tbl>
              <a:tblPr firstRow="1" bandRow="1">
                <a:tableStyleId>{5C22544A-7EE6-4342-B048-85BDC9FD1C3A}</a:tableStyleId>
              </a:tblPr>
              <a:tblGrid>
                <a:gridCol w="3390900">
                  <a:extLst>
                    <a:ext uri="{9D8B030D-6E8A-4147-A177-3AD203B41FA5}">
                      <a16:colId xmlns:a16="http://schemas.microsoft.com/office/drawing/2014/main" val="3105872147"/>
                    </a:ext>
                  </a:extLst>
                </a:gridCol>
                <a:gridCol w="3390900">
                  <a:extLst>
                    <a:ext uri="{9D8B030D-6E8A-4147-A177-3AD203B41FA5}">
                      <a16:colId xmlns:a16="http://schemas.microsoft.com/office/drawing/2014/main" val="2415502028"/>
                    </a:ext>
                  </a:extLst>
                </a:gridCol>
              </a:tblGrid>
              <a:tr h="523240">
                <a:tc>
                  <a:txBody>
                    <a:bodyPr/>
                    <a:lstStyle/>
                    <a:p>
                      <a:r>
                        <a:rPr lang="en-US" dirty="0"/>
                        <a:t>URL</a:t>
                      </a:r>
                      <a:endParaRPr lang="en-IN" dirty="0"/>
                    </a:p>
                  </a:txBody>
                  <a:tcPr/>
                </a:tc>
                <a:tc>
                  <a:txBody>
                    <a:bodyPr/>
                    <a:lstStyle/>
                    <a:p>
                      <a:r>
                        <a:rPr lang="en-US" dirty="0"/>
                        <a:t>Type</a:t>
                      </a:r>
                      <a:endParaRPr lang="en-IN" dirty="0"/>
                    </a:p>
                  </a:txBody>
                  <a:tcPr/>
                </a:tc>
                <a:extLst>
                  <a:ext uri="{0D108BD9-81ED-4DB2-BD59-A6C34878D82A}">
                    <a16:rowId xmlns:a16="http://schemas.microsoft.com/office/drawing/2014/main" val="11042131"/>
                  </a:ext>
                </a:extLst>
              </a:tr>
              <a:tr h="523240">
                <a:tc>
                  <a:txBody>
                    <a:bodyPr/>
                    <a:lstStyle/>
                    <a:p>
                      <a:r>
                        <a:rPr lang="en-US" dirty="0"/>
                        <a:t>https://example.com</a:t>
                      </a:r>
                      <a:endParaRPr lang="en-IN" dirty="0"/>
                    </a:p>
                  </a:txBody>
                  <a:tcPr/>
                </a:tc>
                <a:tc>
                  <a:txBody>
                    <a:bodyPr/>
                    <a:lstStyle/>
                    <a:p>
                      <a:r>
                        <a:rPr lang="en-US" dirty="0"/>
                        <a:t>Benign</a:t>
                      </a:r>
                      <a:endParaRPr lang="en-IN" dirty="0"/>
                    </a:p>
                  </a:txBody>
                  <a:tcPr/>
                </a:tc>
                <a:extLst>
                  <a:ext uri="{0D108BD9-81ED-4DB2-BD59-A6C34878D82A}">
                    <a16:rowId xmlns:a16="http://schemas.microsoft.com/office/drawing/2014/main" val="1602748595"/>
                  </a:ext>
                </a:extLst>
              </a:tr>
              <a:tr h="523240">
                <a:tc>
                  <a:txBody>
                    <a:bodyPr/>
                    <a:lstStyle/>
                    <a:p>
                      <a:r>
                        <a:rPr lang="en-US" dirty="0"/>
                        <a:t>http://example.org/login</a:t>
                      </a:r>
                    </a:p>
                  </a:txBody>
                  <a:tcPr/>
                </a:tc>
                <a:tc>
                  <a:txBody>
                    <a:bodyPr/>
                    <a:lstStyle/>
                    <a:p>
                      <a:r>
                        <a:rPr lang="en-US" dirty="0"/>
                        <a:t>Phishing</a:t>
                      </a:r>
                      <a:endParaRPr lang="en-IN" dirty="0"/>
                    </a:p>
                  </a:txBody>
                  <a:tcPr/>
                </a:tc>
                <a:extLst>
                  <a:ext uri="{0D108BD9-81ED-4DB2-BD59-A6C34878D82A}">
                    <a16:rowId xmlns:a16="http://schemas.microsoft.com/office/drawing/2014/main" val="413554383"/>
                  </a:ext>
                </a:extLst>
              </a:tr>
              <a:tr h="523240">
                <a:tc>
                  <a:txBody>
                    <a:bodyPr/>
                    <a:lstStyle/>
                    <a:p>
                      <a:r>
                        <a:rPr lang="en-US" dirty="0"/>
                        <a:t>http://example.net/page</a:t>
                      </a:r>
                      <a:endParaRPr lang="en-IN" dirty="0"/>
                    </a:p>
                  </a:txBody>
                  <a:tcPr/>
                </a:tc>
                <a:tc>
                  <a:txBody>
                    <a:bodyPr/>
                    <a:lstStyle/>
                    <a:p>
                      <a:r>
                        <a:rPr lang="en-US" dirty="0"/>
                        <a:t>Defacement</a:t>
                      </a:r>
                      <a:endParaRPr lang="en-IN" dirty="0"/>
                    </a:p>
                  </a:txBody>
                  <a:tcPr/>
                </a:tc>
                <a:extLst>
                  <a:ext uri="{0D108BD9-81ED-4DB2-BD59-A6C34878D82A}">
                    <a16:rowId xmlns:a16="http://schemas.microsoft.com/office/drawing/2014/main" val="3312082876"/>
                  </a:ext>
                </a:extLst>
              </a:tr>
              <a:tr h="523240">
                <a:tc>
                  <a:txBody>
                    <a:bodyPr/>
                    <a:lstStyle/>
                    <a:p>
                      <a:r>
                        <a:rPr lang="en-US" dirty="0"/>
                        <a:t>http://example.com/download</a:t>
                      </a:r>
                      <a:endParaRPr lang="en-IN" dirty="0"/>
                    </a:p>
                  </a:txBody>
                  <a:tcPr/>
                </a:tc>
                <a:tc>
                  <a:txBody>
                    <a:bodyPr/>
                    <a:lstStyle/>
                    <a:p>
                      <a:r>
                        <a:rPr lang="en-US" dirty="0"/>
                        <a:t>Malware</a:t>
                      </a:r>
                      <a:endParaRPr lang="en-IN" dirty="0"/>
                    </a:p>
                  </a:txBody>
                  <a:tcPr/>
                </a:tc>
                <a:extLst>
                  <a:ext uri="{0D108BD9-81ED-4DB2-BD59-A6C34878D82A}">
                    <a16:rowId xmlns:a16="http://schemas.microsoft.com/office/drawing/2014/main" val="3703260170"/>
                  </a:ext>
                </a:extLst>
              </a:tr>
            </a:tbl>
          </a:graphicData>
        </a:graphic>
      </p:graphicFrame>
    </p:spTree>
    <p:extLst>
      <p:ext uri="{BB962C8B-B14F-4D97-AF65-F5344CB8AC3E}">
        <p14:creationId xmlns:p14="http://schemas.microsoft.com/office/powerpoint/2010/main" val="3935087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lang="en-US" sz="2000" dirty="0">
                <a:solidFill>
                  <a:schemeClr val="bg1"/>
                </a:solidFill>
                <a:latin typeface="Times New Roman" pitchFamily="18" charset="0"/>
                <a:cs typeface="Times New Roman" pitchFamily="18" charset="0"/>
              </a:rPr>
              <a:t>WORK FLOW</a:t>
            </a:r>
            <a:endParaRPr sz="2000" dirty="0">
              <a:solidFill>
                <a:schemeClr val="bg1"/>
              </a:solidFill>
              <a:latin typeface="Times New Roman" pitchFamily="18" charset="0"/>
              <a:cs typeface="Times New Roman" pitchFamily="18" charset="0"/>
            </a:endParaRPr>
          </a:p>
        </p:txBody>
      </p:sp>
      <p:sp>
        <p:nvSpPr>
          <p:cNvPr id="20" name="TextBox 19"/>
          <p:cNvSpPr txBox="1"/>
          <p:nvPr/>
        </p:nvSpPr>
        <p:spPr>
          <a:xfrm>
            <a:off x="42253" y="1115220"/>
            <a:ext cx="9770832" cy="1569660"/>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Stage 1 – Data Loading</a:t>
            </a:r>
          </a:p>
          <a:p>
            <a:pPr algn="ctr"/>
            <a:r>
              <a:rPr lang="en-US" sz="2400" dirty="0">
                <a:latin typeface="Times New Roman" pitchFamily="18" charset="0"/>
                <a:cs typeface="Times New Roman" pitchFamily="18" charset="0"/>
              </a:rPr>
              <a:t>Import required Python libraries.</a:t>
            </a:r>
          </a:p>
          <a:p>
            <a:pPr algn="ctr"/>
            <a:r>
              <a:rPr lang="en-US" sz="2400" dirty="0">
                <a:latin typeface="Times New Roman" pitchFamily="18" charset="0"/>
                <a:cs typeface="Times New Roman" pitchFamily="18" charset="0"/>
              </a:rPr>
              <a:t>Load the dataset using Pandas.</a:t>
            </a:r>
          </a:p>
          <a:p>
            <a:pPr algn="ctr"/>
            <a:endParaRPr lang="en-US" sz="2400" dirty="0">
              <a:latin typeface="Times New Roman" pitchFamily="18" charset="0"/>
              <a:cs typeface="Times New Roman" pitchFamily="18" charset="0"/>
            </a:endParaRPr>
          </a:p>
        </p:txBody>
      </p:sp>
      <p:sp>
        <p:nvSpPr>
          <p:cNvPr id="4" name="Arrow: Down 3">
            <a:extLst>
              <a:ext uri="{FF2B5EF4-FFF2-40B4-BE49-F238E27FC236}">
                <a16:creationId xmlns:a16="http://schemas.microsoft.com/office/drawing/2014/main" id="{52502A97-D245-72B2-C4CE-36C3CF74332D}"/>
              </a:ext>
            </a:extLst>
          </p:cNvPr>
          <p:cNvSpPr/>
          <p:nvPr/>
        </p:nvSpPr>
        <p:spPr>
          <a:xfrm>
            <a:off x="4796282" y="2373939"/>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3" name="TextBox 12">
            <a:extLst>
              <a:ext uri="{FF2B5EF4-FFF2-40B4-BE49-F238E27FC236}">
                <a16:creationId xmlns:a16="http://schemas.microsoft.com/office/drawing/2014/main" id="{0E34B842-9CD3-AA46-6CA7-F730C9D1D96E}"/>
              </a:ext>
            </a:extLst>
          </p:cNvPr>
          <p:cNvSpPr txBox="1"/>
          <p:nvPr/>
        </p:nvSpPr>
        <p:spPr>
          <a:xfrm>
            <a:off x="1225002" y="2609096"/>
            <a:ext cx="7332457" cy="1200329"/>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Stage 2 – Data Acquisition and Filtering</a:t>
            </a:r>
          </a:p>
          <a:p>
            <a:pPr lvl="0" algn="ctr"/>
            <a:r>
              <a:rPr lang="en-IN" sz="2400" dirty="0">
                <a:latin typeface="Times New Roman" panose="02020603050405020304" pitchFamily="18" charset="0"/>
                <a:cs typeface="Times New Roman" panose="02020603050405020304" pitchFamily="18" charset="0"/>
              </a:rPr>
              <a:t>Select the URL and columns and remove missing records.</a:t>
            </a:r>
          </a:p>
          <a:p>
            <a:pPr lvl="0" algn="ctr"/>
            <a:r>
              <a:rPr lang="en-IN" sz="2400" dirty="0">
                <a:latin typeface="Times New Roman" panose="02020603050405020304" pitchFamily="18" charset="0"/>
                <a:cs typeface="Times New Roman" panose="02020603050405020304" pitchFamily="18" charset="0"/>
              </a:rPr>
              <a:t>Retain valid URL categories.</a:t>
            </a:r>
          </a:p>
        </p:txBody>
      </p:sp>
      <p:sp>
        <p:nvSpPr>
          <p:cNvPr id="15" name="Arrow: Down 14">
            <a:extLst>
              <a:ext uri="{FF2B5EF4-FFF2-40B4-BE49-F238E27FC236}">
                <a16:creationId xmlns:a16="http://schemas.microsoft.com/office/drawing/2014/main" id="{D18714A5-46F1-BD0D-4A00-BB0C1211F660}"/>
              </a:ext>
            </a:extLst>
          </p:cNvPr>
          <p:cNvSpPr/>
          <p:nvPr/>
        </p:nvSpPr>
        <p:spPr>
          <a:xfrm>
            <a:off x="4756604" y="381464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6" name="TextBox 15">
            <a:extLst>
              <a:ext uri="{FF2B5EF4-FFF2-40B4-BE49-F238E27FC236}">
                <a16:creationId xmlns:a16="http://schemas.microsoft.com/office/drawing/2014/main" id="{D359C03E-C4CB-43D3-0C7D-3D50822A8B32}"/>
              </a:ext>
            </a:extLst>
          </p:cNvPr>
          <p:cNvSpPr txBox="1"/>
          <p:nvPr/>
        </p:nvSpPr>
        <p:spPr>
          <a:xfrm>
            <a:off x="1835058" y="4018844"/>
            <a:ext cx="6200819" cy="1569660"/>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Stage 3 – URL Feature Extraction</a:t>
            </a:r>
          </a:p>
          <a:p>
            <a:pPr lvl="0" algn="ctr"/>
            <a:r>
              <a:rPr lang="en-IN" sz="2400" dirty="0">
                <a:latin typeface="Times New Roman" panose="02020603050405020304" pitchFamily="18" charset="0"/>
                <a:cs typeface="Times New Roman" panose="02020603050405020304" pitchFamily="18" charset="0"/>
              </a:rPr>
              <a:t>Extract domain and TLD.</a:t>
            </a:r>
          </a:p>
          <a:p>
            <a:pPr lvl="0" algn="ctr"/>
            <a:r>
              <a:rPr lang="en-IN" sz="2400" dirty="0">
                <a:latin typeface="Times New Roman" panose="02020603050405020304" pitchFamily="18" charset="0"/>
                <a:cs typeface="Times New Roman" panose="02020603050405020304" pitchFamily="18" charset="0"/>
              </a:rPr>
              <a:t>Calculate URL </a:t>
            </a:r>
            <a:r>
              <a:rPr lang="en-IN" sz="2400" dirty="0" err="1">
                <a:latin typeface="Times New Roman" panose="02020603050405020304" pitchFamily="18" charset="0"/>
                <a:cs typeface="Times New Roman" panose="02020603050405020304" pitchFamily="18" charset="0"/>
              </a:rPr>
              <a:t>lenghs</a:t>
            </a:r>
            <a:r>
              <a:rPr lang="en-IN" sz="2400" dirty="0">
                <a:latin typeface="Times New Roman" panose="02020603050405020304" pitchFamily="18" charset="0"/>
                <a:cs typeface="Times New Roman" panose="02020603050405020304" pitchFamily="18" charset="0"/>
              </a:rPr>
              <a:t>, digits, dots, and hyphens.</a:t>
            </a:r>
          </a:p>
          <a:p>
            <a:pPr lvl="0" algn="ctr"/>
            <a:r>
              <a:rPr lang="en-IN" sz="2400" dirty="0">
                <a:latin typeface="Times New Roman" panose="02020603050405020304" pitchFamily="18" charset="0"/>
                <a:cs typeface="Times New Roman" panose="02020603050405020304" pitchFamily="18" charset="0"/>
              </a:rPr>
              <a:t>Count selected suspicious key words.</a:t>
            </a:r>
          </a:p>
        </p:txBody>
      </p:sp>
      <p:sp>
        <p:nvSpPr>
          <p:cNvPr id="18" name="Arrow: Down 17">
            <a:extLst>
              <a:ext uri="{FF2B5EF4-FFF2-40B4-BE49-F238E27FC236}">
                <a16:creationId xmlns:a16="http://schemas.microsoft.com/office/drawing/2014/main" id="{E02D8121-E16D-A49A-1052-85D8AFE05F58}"/>
              </a:ext>
            </a:extLst>
          </p:cNvPr>
          <p:cNvSpPr/>
          <p:nvPr/>
        </p:nvSpPr>
        <p:spPr>
          <a:xfrm>
            <a:off x="4785024" y="5638159"/>
            <a:ext cx="357728" cy="311657"/>
          </a:xfrm>
          <a:prstGeom prst="downArrow">
            <a:avLst>
              <a:gd name="adj1" fmla="val 34189"/>
              <a:gd name="adj2"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21" name="TextBox 20">
            <a:extLst>
              <a:ext uri="{FF2B5EF4-FFF2-40B4-BE49-F238E27FC236}">
                <a16:creationId xmlns:a16="http://schemas.microsoft.com/office/drawing/2014/main" id="{B1C9C953-BED3-2F43-1A1F-3B7650BC3A88}"/>
              </a:ext>
            </a:extLst>
          </p:cNvPr>
          <p:cNvSpPr txBox="1"/>
          <p:nvPr/>
        </p:nvSpPr>
        <p:spPr>
          <a:xfrm>
            <a:off x="2460546" y="5841915"/>
            <a:ext cx="50292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4 – Data Validation and Cleaning</a:t>
            </a:r>
          </a:p>
          <a:p>
            <a:pPr algn="ctr">
              <a:buNone/>
            </a:pPr>
            <a:r>
              <a:rPr lang="en-IN" sz="2400" dirty="0">
                <a:latin typeface="Times New Roman" panose="02020603050405020304" pitchFamily="18" charset="0"/>
                <a:cs typeface="Times New Roman" panose="02020603050405020304" pitchFamily="18" charset="0"/>
              </a:rPr>
              <a:t>Check and remove the duplicate URLs.</a:t>
            </a:r>
          </a:p>
        </p:txBody>
      </p:sp>
    </p:spTree>
    <p:extLst>
      <p:ext uri="{BB962C8B-B14F-4D97-AF65-F5344CB8AC3E}">
        <p14:creationId xmlns:p14="http://schemas.microsoft.com/office/powerpoint/2010/main" val="314495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C6D514-1AF0-EDB1-7078-687065ECF56B}"/>
              </a:ext>
            </a:extLst>
          </p:cNvPr>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F02D1B8B-963F-84C5-69F0-17C3EECCFD8D}"/>
              </a:ext>
            </a:extLst>
          </p:cNvPr>
          <p:cNvGrpSpPr/>
          <p:nvPr/>
        </p:nvGrpSpPr>
        <p:grpSpPr>
          <a:xfrm>
            <a:off x="2590800" y="161097"/>
            <a:ext cx="5103904" cy="1198311"/>
            <a:chOff x="2648188" y="47148"/>
            <a:chExt cx="5103904" cy="1198311"/>
          </a:xfrm>
        </p:grpSpPr>
        <p:pic>
          <p:nvPicPr>
            <p:cNvPr id="10" name="object 4">
              <a:extLst>
                <a:ext uri="{FF2B5EF4-FFF2-40B4-BE49-F238E27FC236}">
                  <a16:creationId xmlns:a16="http://schemas.microsoft.com/office/drawing/2014/main" id="{BD448D2F-A85D-4EA9-4AFA-DBD143FFC367}"/>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70B9531E-FF63-3CBC-8C76-5101CEB24CF2}"/>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A51A82D2-D894-569F-6C1F-514FA4F12972}"/>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B3782B54-B821-DE87-C2B7-79ECF9E77AF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sp>
        <p:nvSpPr>
          <p:cNvPr id="25" name="TextBox 24">
            <a:extLst>
              <a:ext uri="{FF2B5EF4-FFF2-40B4-BE49-F238E27FC236}">
                <a16:creationId xmlns:a16="http://schemas.microsoft.com/office/drawing/2014/main" id="{A5CA9835-2A27-E3B2-E349-E0FE4429CFBE}"/>
              </a:ext>
            </a:extLst>
          </p:cNvPr>
          <p:cNvSpPr txBox="1"/>
          <p:nvPr/>
        </p:nvSpPr>
        <p:spPr>
          <a:xfrm>
            <a:off x="2586213" y="413290"/>
            <a:ext cx="5029200" cy="400110"/>
          </a:xfrm>
          <a:prstGeom prst="rect">
            <a:avLst/>
          </a:prstGeom>
          <a:noFill/>
        </p:spPr>
        <p:txBody>
          <a:bodyPr wrap="square">
            <a:spAutoFit/>
          </a:bodyPr>
          <a:lstStyle/>
          <a:p>
            <a:pPr algn="ctr">
              <a:spcAft>
                <a:spcPts val="700"/>
              </a:spcAft>
              <a:defRPr sz="2200" b="1">
                <a:solidFill>
                  <a:srgbClr val="233464"/>
                </a:solidFill>
                <a:latin typeface="Aptos"/>
              </a:defRPr>
            </a:pPr>
            <a:r>
              <a:rPr lang="en-US" sz="2000" dirty="0">
                <a:solidFill>
                  <a:schemeClr val="bg1"/>
                </a:solidFill>
                <a:latin typeface="Times New Roman" pitchFamily="18" charset="0"/>
                <a:cs typeface="Times New Roman" pitchFamily="18" charset="0"/>
              </a:rPr>
              <a:t>W</a:t>
            </a:r>
            <a:r>
              <a:rPr lang="en-IN" sz="2000" dirty="0">
                <a:solidFill>
                  <a:schemeClr val="bg1"/>
                </a:solidFill>
                <a:latin typeface="Times New Roman" pitchFamily="18" charset="0"/>
                <a:cs typeface="Times New Roman" pitchFamily="18" charset="0"/>
              </a:rPr>
              <a:t>ORK FLOW</a:t>
            </a:r>
          </a:p>
        </p:txBody>
      </p:sp>
      <p:sp>
        <p:nvSpPr>
          <p:cNvPr id="27" name="TextBox 26">
            <a:extLst>
              <a:ext uri="{FF2B5EF4-FFF2-40B4-BE49-F238E27FC236}">
                <a16:creationId xmlns:a16="http://schemas.microsoft.com/office/drawing/2014/main" id="{769BA950-6049-F76A-4A0C-CF5ED87D2763}"/>
              </a:ext>
            </a:extLst>
          </p:cNvPr>
          <p:cNvSpPr txBox="1"/>
          <p:nvPr/>
        </p:nvSpPr>
        <p:spPr>
          <a:xfrm>
            <a:off x="1816265" y="953427"/>
            <a:ext cx="6652974" cy="1569660"/>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5 – Aggregation and Representation</a:t>
            </a:r>
          </a:p>
          <a:p>
            <a:pPr lvl="0" algn="ctr"/>
            <a:r>
              <a:rPr lang="en-IN" sz="2400" dirty="0">
                <a:latin typeface="Times New Roman" panose="02020603050405020304" pitchFamily="18" charset="0"/>
                <a:cs typeface="Times New Roman" panose="02020603050405020304" pitchFamily="18" charset="0"/>
              </a:rPr>
              <a:t>Calculate the total number of URLs and count unique domains and TDLs.</a:t>
            </a:r>
          </a:p>
          <a:p>
            <a:pPr lvl="0" algn="ctr"/>
            <a:r>
              <a:rPr lang="en-IN" sz="2400" dirty="0">
                <a:latin typeface="Times New Roman" panose="02020603050405020304" pitchFamily="18" charset="0"/>
                <a:cs typeface="Times New Roman" panose="02020603050405020304" pitchFamily="18" charset="0"/>
              </a:rPr>
              <a:t>Calculate average feature values by URL category.</a:t>
            </a:r>
          </a:p>
        </p:txBody>
      </p:sp>
      <p:sp>
        <p:nvSpPr>
          <p:cNvPr id="29" name="Arrow: Down 28">
            <a:extLst>
              <a:ext uri="{FF2B5EF4-FFF2-40B4-BE49-F238E27FC236}">
                <a16:creationId xmlns:a16="http://schemas.microsoft.com/office/drawing/2014/main" id="{3B0312D2-1C2D-0FC3-47A4-8970E0D691E7}"/>
              </a:ext>
            </a:extLst>
          </p:cNvPr>
          <p:cNvSpPr/>
          <p:nvPr/>
        </p:nvSpPr>
        <p:spPr>
          <a:xfrm>
            <a:off x="4850336" y="242705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1" name="TextBox 30">
            <a:extLst>
              <a:ext uri="{FF2B5EF4-FFF2-40B4-BE49-F238E27FC236}">
                <a16:creationId xmlns:a16="http://schemas.microsoft.com/office/drawing/2014/main" id="{6FA49019-54D3-0F1F-3651-5D4892AE3078}"/>
              </a:ext>
            </a:extLst>
          </p:cNvPr>
          <p:cNvSpPr txBox="1"/>
          <p:nvPr/>
        </p:nvSpPr>
        <p:spPr>
          <a:xfrm>
            <a:off x="2590800" y="2612335"/>
            <a:ext cx="4876800" cy="1569660"/>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6 – Data Analysis</a:t>
            </a:r>
          </a:p>
          <a:p>
            <a:pPr lvl="0" algn="ctr"/>
            <a:r>
              <a:rPr lang="en-IN" sz="2400" dirty="0">
                <a:latin typeface="Times New Roman" panose="02020603050405020304" pitchFamily="18" charset="0"/>
                <a:cs typeface="Times New Roman" panose="02020603050405020304" pitchFamily="18" charset="0"/>
              </a:rPr>
              <a:t>Compare IP-address usage across URL categories.</a:t>
            </a:r>
          </a:p>
          <a:p>
            <a:pPr lvl="0" algn="ctr"/>
            <a:r>
              <a:rPr lang="en-IN" sz="2400" dirty="0">
                <a:latin typeface="Times New Roman" panose="02020603050405020304" pitchFamily="18" charset="0"/>
                <a:cs typeface="Times New Roman" panose="02020603050405020304" pitchFamily="18" charset="0"/>
              </a:rPr>
              <a:t>Examine relationships .</a:t>
            </a:r>
          </a:p>
        </p:txBody>
      </p:sp>
      <p:sp>
        <p:nvSpPr>
          <p:cNvPr id="33" name="Arrow: Down 32">
            <a:extLst>
              <a:ext uri="{FF2B5EF4-FFF2-40B4-BE49-F238E27FC236}">
                <a16:creationId xmlns:a16="http://schemas.microsoft.com/office/drawing/2014/main" id="{6D0F4567-D057-4BE7-32A7-334EC2164A2C}"/>
              </a:ext>
            </a:extLst>
          </p:cNvPr>
          <p:cNvSpPr/>
          <p:nvPr/>
        </p:nvSpPr>
        <p:spPr>
          <a:xfrm>
            <a:off x="4850336" y="4107909"/>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5" name="TextBox 34">
            <a:extLst>
              <a:ext uri="{FF2B5EF4-FFF2-40B4-BE49-F238E27FC236}">
                <a16:creationId xmlns:a16="http://schemas.microsoft.com/office/drawing/2014/main" id="{53C43C12-4B70-F721-9E0A-DD8370D3BABC}"/>
              </a:ext>
            </a:extLst>
          </p:cNvPr>
          <p:cNvSpPr txBox="1"/>
          <p:nvPr/>
        </p:nvSpPr>
        <p:spPr>
          <a:xfrm>
            <a:off x="2628152" y="4271243"/>
            <a:ext cx="5029200" cy="1569660"/>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7 – Visualization</a:t>
            </a:r>
          </a:p>
          <a:p>
            <a:pPr lvl="0" algn="ctr"/>
            <a:r>
              <a:rPr lang="en-IN" sz="2400" dirty="0">
                <a:latin typeface="Times New Roman" panose="02020603050405020304" pitchFamily="18" charset="0"/>
                <a:cs typeface="Times New Roman" panose="02020603050405020304" pitchFamily="18" charset="0"/>
              </a:rPr>
              <a:t>Generate charts using Matplotlib.</a:t>
            </a:r>
          </a:p>
          <a:p>
            <a:pPr lvl="0" algn="ctr"/>
            <a:r>
              <a:rPr lang="en-IN" sz="2400" dirty="0">
                <a:latin typeface="Times New Roman" panose="02020603050405020304" pitchFamily="18" charset="0"/>
                <a:cs typeface="Times New Roman" panose="02020603050405020304" pitchFamily="18" charset="0"/>
              </a:rPr>
              <a:t>Identify patterns between URL features.</a:t>
            </a:r>
          </a:p>
        </p:txBody>
      </p:sp>
      <p:sp>
        <p:nvSpPr>
          <p:cNvPr id="37" name="Arrow: Down 36">
            <a:extLst>
              <a:ext uri="{FF2B5EF4-FFF2-40B4-BE49-F238E27FC236}">
                <a16:creationId xmlns:a16="http://schemas.microsoft.com/office/drawing/2014/main" id="{D2A13C47-9211-7F6A-3235-E7CA857CC45D}"/>
              </a:ext>
            </a:extLst>
          </p:cNvPr>
          <p:cNvSpPr/>
          <p:nvPr/>
        </p:nvSpPr>
        <p:spPr>
          <a:xfrm>
            <a:off x="4885307" y="5737981"/>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9" name="TextBox 38">
            <a:extLst>
              <a:ext uri="{FF2B5EF4-FFF2-40B4-BE49-F238E27FC236}">
                <a16:creationId xmlns:a16="http://schemas.microsoft.com/office/drawing/2014/main" id="{A378BCE5-A3E9-0942-2521-8A05596F86BE}"/>
              </a:ext>
            </a:extLst>
          </p:cNvPr>
          <p:cNvSpPr txBox="1"/>
          <p:nvPr/>
        </p:nvSpPr>
        <p:spPr>
          <a:xfrm>
            <a:off x="2628152" y="5946716"/>
            <a:ext cx="5029200" cy="1569660"/>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8 – Results &amp; Interpretation</a:t>
            </a:r>
          </a:p>
          <a:p>
            <a:pPr lvl="0" algn="ctr"/>
            <a:r>
              <a:rPr lang="en-IN" sz="2400" dirty="0">
                <a:latin typeface="Times New Roman" panose="02020603050405020304" pitchFamily="18" charset="0"/>
                <a:cs typeface="Times New Roman" panose="02020603050405020304" pitchFamily="18" charset="0"/>
              </a:rPr>
              <a:t>Summarize key patterns and findings.</a:t>
            </a:r>
          </a:p>
          <a:p>
            <a:pPr lvl="0" algn="ctr"/>
            <a:r>
              <a:rPr lang="en-IN" sz="2400" dirty="0">
                <a:latin typeface="Times New Roman" panose="02020603050405020304" pitchFamily="18" charset="0"/>
                <a:cs typeface="Times New Roman" panose="02020603050405020304" pitchFamily="18" charset="0"/>
              </a:rPr>
              <a:t>Interpret results from the visualizations.</a:t>
            </a:r>
          </a:p>
        </p:txBody>
      </p:sp>
    </p:spTree>
    <p:extLst>
      <p:ext uri="{BB962C8B-B14F-4D97-AF65-F5344CB8AC3E}">
        <p14:creationId xmlns:p14="http://schemas.microsoft.com/office/powerpoint/2010/main" val="3744217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3">
            <a:extLst>
              <a:ext uri="{FF2B5EF4-FFF2-40B4-BE49-F238E27FC236}">
                <a16:creationId xmlns:a16="http://schemas.microsoft.com/office/drawing/2014/main" id="{D26E0863-A3EE-1EC4-F128-4D4F1A60D3A0}"/>
              </a:ext>
            </a:extLst>
          </p:cNvPr>
          <p:cNvGrpSpPr/>
          <p:nvPr/>
        </p:nvGrpSpPr>
        <p:grpSpPr>
          <a:xfrm>
            <a:off x="2590800" y="161097"/>
            <a:ext cx="5103904" cy="1198311"/>
            <a:chOff x="2648188" y="47148"/>
            <a:chExt cx="5103904" cy="1198311"/>
          </a:xfrm>
        </p:grpSpPr>
        <p:pic>
          <p:nvPicPr>
            <p:cNvPr id="21"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22"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23"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24"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2468880" y="396841"/>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 Visualization</a:t>
            </a:r>
            <a:endParaRPr dirty="0">
              <a:solidFill>
                <a:schemeClr val="bg1"/>
              </a:solidFill>
              <a:latin typeface="Times New Roman" pitchFamily="18" charset="0"/>
              <a:cs typeface="Times New Roman" pitchFamily="18" charset="0"/>
            </a:endParaRPr>
          </a:p>
        </p:txBody>
      </p:sp>
      <p:sp>
        <p:nvSpPr>
          <p:cNvPr id="26" name="TextBox 25"/>
          <p:cNvSpPr txBox="1"/>
          <p:nvPr/>
        </p:nvSpPr>
        <p:spPr>
          <a:xfrm>
            <a:off x="411480" y="1234440"/>
            <a:ext cx="9144000" cy="365760"/>
          </a:xfrm>
          <a:prstGeom prst="rect">
            <a:avLst/>
          </a:prstGeom>
          <a:noFill/>
        </p:spPr>
        <p:txBody>
          <a:bodyPr wrap="none">
            <a:spAutoFit/>
          </a:bodyPr>
          <a:lstStyle/>
          <a:p>
            <a:r>
              <a:rPr sz="1300" i="1">
                <a:solidFill>
                  <a:srgbClr val="808080"/>
                </a:solidFill>
                <a:latin typeface="Times New Roman"/>
              </a:rPr>
              <a:t>Charts made from the malicious URL dataset</a:t>
            </a:r>
          </a:p>
        </p:txBody>
      </p:sp>
      <p:pic>
        <p:nvPicPr>
          <p:cNvPr id="5" name="Picture 4" descr="The image is a bar chart displaying the top 10 top-level domains (TLDs) and their corresponding number of associated URLs, with 'com' being the most prevalent.&#10;&#10;AI-generated content may be incorrect.">
            <a:extLst>
              <a:ext uri="{FF2B5EF4-FFF2-40B4-BE49-F238E27FC236}">
                <a16:creationId xmlns:a16="http://schemas.microsoft.com/office/drawing/2014/main" id="{4E650ECA-7D62-F84B-8824-3AC210898E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481" y="1286775"/>
            <a:ext cx="4312920" cy="3336409"/>
          </a:xfrm>
          <a:prstGeom prst="rect">
            <a:avLst/>
          </a:prstGeom>
        </p:spPr>
      </p:pic>
      <p:pic>
        <p:nvPicPr>
          <p:cNvPr id="7" name="Picture 6" descr="The diagram illustrates a distribution of URL lengths categorized by class, showing different lengths (175, 150, 125, 100, 75, 50, 25) and types (benign, defacement, malware, phishing).&#10;&#10;AI-generated content may be incorrect.">
            <a:extLst>
              <a:ext uri="{FF2B5EF4-FFF2-40B4-BE49-F238E27FC236}">
                <a16:creationId xmlns:a16="http://schemas.microsoft.com/office/drawing/2014/main" id="{CDF18A8F-58FD-9494-77E7-9D755A096A1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7919" y="1234440"/>
            <a:ext cx="4393814" cy="3513507"/>
          </a:xfrm>
          <a:prstGeom prst="rect">
            <a:avLst/>
          </a:prstGeom>
        </p:spPr>
      </p:pic>
      <p:pic>
        <p:nvPicPr>
          <p:cNvPr id="9" name="Picture 8" descr="The diagram illustrates a scatter plot comparing URL length to digit count, categorizing data points into benign and malicious classes.&#10;&#10;AI-generated content may be incorrect.">
            <a:extLst>
              <a:ext uri="{FF2B5EF4-FFF2-40B4-BE49-F238E27FC236}">
                <a16:creationId xmlns:a16="http://schemas.microsoft.com/office/drawing/2014/main" id="{C1510826-336B-AEC3-1534-569298ADB30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48000" y="4666872"/>
            <a:ext cx="3679844" cy="2905140"/>
          </a:xfrm>
          <a:prstGeom prst="rect">
            <a:avLst/>
          </a:prstGeom>
        </p:spPr>
      </p:pic>
    </p:spTree>
    <p:extLst>
      <p:ext uri="{BB962C8B-B14F-4D97-AF65-F5344CB8AC3E}">
        <p14:creationId xmlns:p14="http://schemas.microsoft.com/office/powerpoint/2010/main" val="3751606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830997"/>
          </a:xfrm>
          <a:prstGeom prst="rect">
            <a:avLst/>
          </a:prstGeom>
          <a:noFill/>
        </p:spPr>
        <p:txBody>
          <a:bodyPr wrap="square" rtlCol="0">
            <a:spAutoFit/>
          </a:bodyPr>
          <a:lstStyle/>
          <a:p>
            <a:pPr algn="ctr"/>
            <a:r>
              <a:rPr lang="en-IN" sz="2400" dirty="0">
                <a:solidFill>
                  <a:schemeClr val="bg1"/>
                </a:solidFill>
                <a:latin typeface="Times New Roman" pitchFamily="18" charset="0"/>
                <a:cs typeface="Times New Roman" pitchFamily="18" charset="0"/>
              </a:rPr>
              <a:t>Libraries Used</a:t>
            </a:r>
          </a:p>
          <a:p>
            <a:endParaRPr lang="en-US" sz="2400" dirty="0"/>
          </a:p>
        </p:txBody>
      </p:sp>
      <p:sp>
        <p:nvSpPr>
          <p:cNvPr id="10" name="TextBox 9"/>
          <p:cNvSpPr txBox="1"/>
          <p:nvPr/>
        </p:nvSpPr>
        <p:spPr>
          <a:xfrm>
            <a:off x="548640" y="1554480"/>
            <a:ext cx="8961120" cy="4478149"/>
          </a:xfrm>
          <a:prstGeom prst="rect">
            <a:avLst/>
          </a:prstGeom>
          <a:noFill/>
        </p:spPr>
        <p:txBody>
          <a:bodyPr wrap="square">
            <a:spAutoFit/>
          </a:bodyPr>
          <a:lstStyle/>
          <a:p>
            <a:r>
              <a:rPr lang="en-IN" b="1" dirty="0"/>
              <a:t>Pandas</a:t>
            </a:r>
            <a:endParaRPr lang="en-IN" dirty="0"/>
          </a:p>
          <a:p>
            <a:pPr lvl="0"/>
            <a:r>
              <a:rPr lang="en-IN" dirty="0"/>
              <a:t>Used to load the CSV dataset.</a:t>
            </a:r>
          </a:p>
          <a:p>
            <a:pPr lvl="0"/>
            <a:r>
              <a:rPr lang="en-IN" dirty="0"/>
              <a:t>Helps clean, organize, filter, and analyse URL data.</a:t>
            </a:r>
          </a:p>
          <a:p>
            <a:r>
              <a:rPr lang="en-IN" b="1" dirty="0"/>
              <a:t>NumPy</a:t>
            </a:r>
            <a:endParaRPr lang="en-IN" dirty="0"/>
          </a:p>
          <a:p>
            <a:pPr lvl="0"/>
            <a:r>
              <a:rPr lang="en-IN" dirty="0"/>
              <a:t>A numerical computing library in Python.</a:t>
            </a:r>
          </a:p>
          <a:p>
            <a:pPr lvl="0"/>
            <a:r>
              <a:rPr lang="en-IN" dirty="0"/>
              <a:t>Provides support for numerical operations and data processing.</a:t>
            </a:r>
          </a:p>
          <a:p>
            <a:r>
              <a:rPr lang="en-IN" b="1" dirty="0"/>
              <a:t>Matplotlib</a:t>
            </a:r>
            <a:endParaRPr lang="en-IN" dirty="0"/>
          </a:p>
          <a:p>
            <a:pPr lvl="0"/>
            <a:r>
              <a:rPr lang="en-IN" dirty="0"/>
              <a:t>Used to create graphs and charts.</a:t>
            </a:r>
          </a:p>
          <a:p>
            <a:pPr lvl="0"/>
            <a:r>
              <a:rPr lang="en-IN" dirty="0"/>
              <a:t>Helps visualize URL length, TLD distribution, HTTPS usage, and relationships between URL features.</a:t>
            </a:r>
          </a:p>
          <a:p>
            <a:r>
              <a:rPr lang="en-IN" b="1" dirty="0" err="1"/>
              <a:t>urllib.parse</a:t>
            </a:r>
            <a:endParaRPr lang="en-IN" dirty="0"/>
          </a:p>
          <a:p>
            <a:pPr lvl="0"/>
            <a:r>
              <a:rPr lang="en-IN" dirty="0"/>
              <a:t>A built-in Python module used to parse URLs.</a:t>
            </a:r>
          </a:p>
          <a:p>
            <a:pPr lvl="0"/>
            <a:r>
              <a:rPr lang="en-IN" dirty="0"/>
              <a:t>Helps extract components such as hostname, domain, path, and query.</a:t>
            </a:r>
          </a:p>
          <a:p>
            <a:pPr lvl="0"/>
            <a:endParaRPr lang="en-IN" dirty="0"/>
          </a:p>
          <a:p>
            <a:pPr lvl="0"/>
            <a:endParaRPr lang="en-US" sz="1700" dirty="0">
              <a:solidFill>
                <a:srgbClr val="2D2D2D"/>
              </a:solidFill>
              <a:latin typeface="Times New Roman"/>
            </a:endParaRPr>
          </a:p>
          <a:p>
            <a:pPr lvl="0"/>
            <a:endParaRPr lang="en-IN"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6F311-2C00-398D-5EA2-FEDDBF3553CE}"/>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005F0334-3D10-BCBE-A36C-F79707926DD9}"/>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B7B76B61-89C1-378B-AC38-757D4D486E4A}"/>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26C94509-EF04-2B5C-3B25-13618758BD16}"/>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6D5455A-FD3A-7049-D7C0-1DB1E7F9DB44}"/>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876D23E-2843-F07C-4C1D-803DC3DDF71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a:extLst>
              <a:ext uri="{FF2B5EF4-FFF2-40B4-BE49-F238E27FC236}">
                <a16:creationId xmlns:a16="http://schemas.microsoft.com/office/drawing/2014/main" id="{E8474F6D-D928-C0DE-D5EA-4FA4071A1DB2}"/>
              </a:ext>
            </a:extLst>
          </p:cNvPr>
          <p:cNvSpPr txBox="1"/>
          <p:nvPr/>
        </p:nvSpPr>
        <p:spPr>
          <a:xfrm>
            <a:off x="3429000" y="152400"/>
            <a:ext cx="3265998" cy="830997"/>
          </a:xfrm>
          <a:prstGeom prst="rect">
            <a:avLst/>
          </a:prstGeom>
          <a:noFill/>
        </p:spPr>
        <p:txBody>
          <a:bodyPr wrap="square" rtlCol="0">
            <a:spAutoFit/>
          </a:bodyPr>
          <a:lstStyle/>
          <a:p>
            <a:pPr algn="ctr"/>
            <a:r>
              <a:rPr lang="en-IN" sz="2400" dirty="0">
                <a:solidFill>
                  <a:schemeClr val="bg1"/>
                </a:solidFill>
                <a:latin typeface="Times New Roman" pitchFamily="18" charset="0"/>
                <a:cs typeface="Times New Roman" pitchFamily="18" charset="0"/>
              </a:rPr>
              <a:t>Result</a:t>
            </a:r>
          </a:p>
          <a:p>
            <a:endParaRPr lang="en-US" sz="2400" dirty="0"/>
          </a:p>
        </p:txBody>
      </p:sp>
      <p:sp>
        <p:nvSpPr>
          <p:cNvPr id="10" name="TextBox 9">
            <a:extLst>
              <a:ext uri="{FF2B5EF4-FFF2-40B4-BE49-F238E27FC236}">
                <a16:creationId xmlns:a16="http://schemas.microsoft.com/office/drawing/2014/main" id="{8B306E21-FA02-F7D9-C469-F1EEAD315A1D}"/>
              </a:ext>
            </a:extLst>
          </p:cNvPr>
          <p:cNvSpPr txBox="1"/>
          <p:nvPr/>
        </p:nvSpPr>
        <p:spPr>
          <a:xfrm>
            <a:off x="548640" y="1554480"/>
            <a:ext cx="8961120" cy="3647152"/>
          </a:xfrm>
          <a:prstGeom prst="rect">
            <a:avLst/>
          </a:prstGeom>
          <a:noFill/>
        </p:spPr>
        <p:txBody>
          <a:bodyPr wrap="square">
            <a:spAutoFit/>
          </a:bodyPr>
          <a:lstStyle/>
          <a:p>
            <a:r>
              <a:rPr lang="en-IN" sz="2000" dirty="0"/>
              <a:t>The program processes the URL dataset and produces summary statistics and visualizations.</a:t>
            </a:r>
          </a:p>
          <a:p>
            <a:pPr marL="285750" lvl="0" indent="-285750">
              <a:buFont typeface="Arial" panose="020B0604020202020204" pitchFamily="34" charset="0"/>
              <a:buChar char="•"/>
            </a:pPr>
            <a:r>
              <a:rPr lang="en-IN" sz="2000" b="1" dirty="0"/>
              <a:t>Category distribution:</a:t>
            </a:r>
            <a:r>
              <a:rPr lang="en-IN" sz="2000" dirty="0"/>
              <a:t> Compare the number of URLs in each category.</a:t>
            </a:r>
          </a:p>
          <a:p>
            <a:pPr marL="285750" lvl="0" indent="-285750">
              <a:buFont typeface="Arial" panose="020B0604020202020204" pitchFamily="34" charset="0"/>
              <a:buChar char="•"/>
            </a:pPr>
            <a:r>
              <a:rPr lang="en-IN" sz="2000" b="1" dirty="0"/>
              <a:t>TLD distribution:</a:t>
            </a:r>
            <a:r>
              <a:rPr lang="en-IN" sz="2000" dirty="0"/>
              <a:t> Identify the most frequently occurring top-level domains.</a:t>
            </a:r>
          </a:p>
          <a:p>
            <a:pPr marL="285750" lvl="0" indent="-285750">
              <a:buFont typeface="Arial" panose="020B0604020202020204" pitchFamily="34" charset="0"/>
              <a:buChar char="•"/>
            </a:pPr>
            <a:r>
              <a:rPr lang="en-IN" sz="2000" b="1" dirty="0"/>
              <a:t>URL length:</a:t>
            </a:r>
            <a:r>
              <a:rPr lang="en-IN" sz="2000" dirty="0"/>
              <a:t> Compare URL-length distributions across categories.</a:t>
            </a:r>
          </a:p>
          <a:p>
            <a:pPr marL="285750" lvl="0" indent="-285750">
              <a:buFont typeface="Arial" panose="020B0604020202020204" pitchFamily="34" charset="0"/>
              <a:buChar char="•"/>
            </a:pPr>
            <a:r>
              <a:rPr lang="en-IN" sz="2000" b="1" dirty="0"/>
              <a:t>HTTPS usage:</a:t>
            </a:r>
            <a:r>
              <a:rPr lang="en-IN" sz="2000" dirty="0"/>
              <a:t> Examine HTTPS usage in different categories.</a:t>
            </a:r>
          </a:p>
          <a:p>
            <a:pPr marL="285750" lvl="0" indent="-285750">
              <a:buFont typeface="Arial" panose="020B0604020202020204" pitchFamily="34" charset="0"/>
              <a:buChar char="•"/>
            </a:pPr>
            <a:r>
              <a:rPr lang="en-IN" sz="2000" b="1" dirty="0"/>
              <a:t>Suspicious keywords:</a:t>
            </a:r>
            <a:r>
              <a:rPr lang="en-IN" sz="2000" dirty="0"/>
              <a:t> Identify frequently occurring selected keywords.</a:t>
            </a:r>
          </a:p>
          <a:p>
            <a:pPr marL="285750" lvl="0" indent="-285750">
              <a:buFont typeface="Arial" panose="020B0604020202020204" pitchFamily="34" charset="0"/>
              <a:buChar char="•"/>
            </a:pPr>
            <a:r>
              <a:rPr lang="en-IN" sz="2000" b="1" dirty="0"/>
              <a:t>Feature relationships:</a:t>
            </a:r>
            <a:r>
              <a:rPr lang="en-IN" sz="2000" dirty="0"/>
              <a:t> Examine correlations between numerical URL characteristics.</a:t>
            </a:r>
          </a:p>
          <a:p>
            <a:pPr marL="285750" lvl="0" indent="-285750">
              <a:buFont typeface="Arial" panose="020B0604020202020204" pitchFamily="34" charset="0"/>
              <a:buChar char="•"/>
            </a:pPr>
            <a:endParaRPr lang="en-IN" dirty="0"/>
          </a:p>
          <a:p>
            <a:pPr lvl="0"/>
            <a:endParaRPr lang="en-US" sz="1700" dirty="0">
              <a:solidFill>
                <a:srgbClr val="2D2D2D"/>
              </a:solidFill>
              <a:latin typeface="Times New Roman"/>
            </a:endParaRPr>
          </a:p>
          <a:p>
            <a:pPr lvl="0"/>
            <a:endParaRPr lang="en-IN" sz="1600" dirty="0"/>
          </a:p>
        </p:txBody>
      </p:sp>
    </p:spTree>
    <p:extLst>
      <p:ext uri="{BB962C8B-B14F-4D97-AF65-F5344CB8AC3E}">
        <p14:creationId xmlns:p14="http://schemas.microsoft.com/office/powerpoint/2010/main" val="255735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14" name="TextBox 13"/>
          <p:cNvSpPr txBox="1"/>
          <p:nvPr/>
        </p:nvSpPr>
        <p:spPr>
          <a:xfrm>
            <a:off x="2488870" y="3684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CONCLUSION</a:t>
            </a:r>
          </a:p>
        </p:txBody>
      </p:sp>
      <p:sp>
        <p:nvSpPr>
          <p:cNvPr id="15" name="TextBox 14"/>
          <p:cNvSpPr txBox="1"/>
          <p:nvPr/>
        </p:nvSpPr>
        <p:spPr>
          <a:xfrm>
            <a:off x="897009" y="1350711"/>
            <a:ext cx="8412480" cy="2946961"/>
          </a:xfrm>
          <a:prstGeom prst="rect">
            <a:avLst/>
          </a:prstGeom>
          <a:noFill/>
        </p:spPr>
        <p:txBody>
          <a:bodyPr wrap="square">
            <a:spAutoFit/>
          </a:bodyPr>
          <a:lstStyle/>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The project studies malicious URLs using simple URL-based features.</a:t>
            </a:r>
          </a:p>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Cleaning and feature extraction make the data easier to study.</a:t>
            </a:r>
          </a:p>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Charts show clear differences between the URL types.</a:t>
            </a:r>
          </a:p>
          <a:p>
            <a:pPr algn="l">
              <a:spcAft>
                <a:spcPts val="700"/>
              </a:spcAft>
              <a:defRPr sz="2000" b="0">
                <a:solidFill>
                  <a:srgbClr val="2D2D2D"/>
                </a:solidFill>
                <a:latin typeface="Aptos"/>
              </a:defRPr>
            </a:pPr>
            <a:endParaRPr sz="2800"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872251" y="6126486"/>
            <a:ext cx="8138160" cy="830997"/>
          </a:xfrm>
          <a:prstGeom prst="rect">
            <a:avLst/>
          </a:prstGeom>
          <a:noFill/>
        </p:spPr>
        <p:txBody>
          <a:bodyPr wrap="square">
            <a:spAutoFit/>
          </a:bodyPr>
          <a:lstStyle/>
          <a:p>
            <a:pPr algn="ctr">
              <a:spcAft>
                <a:spcPts val="700"/>
              </a:spcAft>
              <a:defRPr sz="1600" b="1">
                <a:solidFill>
                  <a:srgbClr val="C25B30"/>
                </a:solidFill>
                <a:latin typeface="Aptos"/>
              </a:defRPr>
            </a:pPr>
            <a:r>
              <a:rPr sz="2400" dirty="0">
                <a:latin typeface="Times New Roman" pitchFamily="18" charset="0"/>
                <a:cs typeface="Times New Roman" pitchFamily="18" charset="0"/>
              </a:rPr>
              <a:t>Future scope: add domain age, WHOIS and URL text features for deeper analysis.</a:t>
            </a:r>
          </a:p>
        </p:txBody>
      </p:sp>
    </p:spTree>
    <p:extLst>
      <p:ext uri="{BB962C8B-B14F-4D97-AF65-F5344CB8AC3E}">
        <p14:creationId xmlns:p14="http://schemas.microsoft.com/office/powerpoint/2010/main" val="2694192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58400" cy="7772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400" y="0"/>
            <a:ext cx="8219599"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372" y="0"/>
            <a:ext cx="8207655"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1257302" y="2266230"/>
            <a:ext cx="7543800" cy="3132565"/>
          </a:xfrm>
          <a:prstGeom prst="rect">
            <a:avLst/>
          </a:prstGeom>
        </p:spPr>
        <p:txBody>
          <a:bodyPr vert="horz" lIns="91440" tIns="45720" rIns="91440" bIns="45720" rtlCol="0" anchor="ctr">
            <a:normAutofit/>
          </a:bodyPr>
          <a:lstStyle/>
          <a:p>
            <a:pPr algn="ctr" rtl="0">
              <a:lnSpc>
                <a:spcPct val="90000"/>
              </a:lnSpc>
              <a:spcBef>
                <a:spcPct val="0"/>
              </a:spcBef>
              <a:spcAft>
                <a:spcPts val="700"/>
              </a:spcAft>
              <a:defRPr sz="3400" b="1">
                <a:solidFill>
                  <a:srgbClr val="233464"/>
                </a:solidFill>
                <a:latin typeface="Aptos"/>
              </a:defRPr>
            </a:pPr>
            <a:r>
              <a:rPr lang="en-US" sz="3600" kern="1200" dirty="0">
                <a:solidFill>
                  <a:schemeClr val="tx1"/>
                </a:solidFill>
                <a:latin typeface="Times New Roman" pitchFamily="18" charset="0"/>
                <a:ea typeface="+mj-ea"/>
                <a:cs typeface="Times New Roman" pitchFamily="18" charset="0"/>
              </a:rPr>
              <a:t>THANK YOU</a:t>
            </a:r>
          </a:p>
        </p:txBody>
      </p:sp>
      <p:sp>
        <p:nvSpPr>
          <p:cNvPr id="26" name="Rectangle 2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67812" y="6261424"/>
            <a:ext cx="3922776" cy="310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object 3">
            <a:extLst>
              <a:ext uri="{FF2B5EF4-FFF2-40B4-BE49-F238E27FC236}">
                <a16:creationId xmlns:a16="http://schemas.microsoft.com/office/drawing/2014/main" id="{A36E30A8-BD1B-0058-4620-F390351DADBD}"/>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3335</TotalTime>
  <Words>894</Words>
  <Application>Microsoft Office PowerPoint</Application>
  <PresentationFormat>Custom</PresentationFormat>
  <Paragraphs>132</Paragraphs>
  <Slides>15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Palatino Linotype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Hasini Katta</cp:lastModifiedBy>
  <cp:revision>117</cp:revision>
  <cp:lastPrinted>2025-10-14T18:21:49Z</cp:lastPrinted>
  <dcterms:created xsi:type="dcterms:W3CDTF">2025-10-10T08:28:06Z</dcterms:created>
  <dcterms:modified xsi:type="dcterms:W3CDTF">2026-10-30T03:15:53Z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